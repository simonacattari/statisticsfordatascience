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lexandria" panose="020B0604020202020204" charset="-78"/>
      <p:regular r:id="rId18"/>
    </p:embeddedFont>
    <p:embeddedFont>
      <p:font typeface="Alexandria Bold" panose="020B0604020202020204" charset="-78"/>
      <p:regular r:id="rId19"/>
    </p:embeddedFont>
    <p:embeddedFont>
      <p:font typeface="Alexandria Light" panose="020B0604020202020204" charset="-78"/>
      <p:regular r:id="rId20"/>
    </p:embeddedFont>
    <p:embeddedFont>
      <p:font typeface="Open Sans" panose="020F0502020204030204" pitchFamily="34" charset="0"/>
      <p:regular r:id="rId21"/>
    </p:embeddedFont>
    <p:embeddedFont>
      <p:font typeface="Open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208.3524" TargetMode="External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ites.santafe.edu/~aaronc/powerlaws/data/cities.txt" TargetMode="External"/><Relationship Id="rId4" Type="http://schemas.openxmlformats.org/officeDocument/2006/relationships/hyperlink" Target="https://sites.santafe.edu/~aaronc/powerlaws/data/fires.t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7805886" y="0"/>
            <a:ext cx="18288000" cy="10482262"/>
            <a:chOff x="0" y="0"/>
            <a:chExt cx="24384000" cy="13976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976350"/>
            </a:xfrm>
            <a:custGeom>
              <a:avLst/>
              <a:gdLst/>
              <a:ahLst/>
              <a:cxnLst/>
              <a:rect l="l" t="t" r="r" b="b"/>
              <a:pathLst>
                <a:path w="24384000" h="13976350">
                  <a:moveTo>
                    <a:pt x="0" y="0"/>
                  </a:moveTo>
                  <a:lnTo>
                    <a:pt x="24384000" y="0"/>
                  </a:lnTo>
                  <a:lnTo>
                    <a:pt x="24384000" y="13976350"/>
                  </a:lnTo>
                  <a:lnTo>
                    <a:pt x="0" y="1397635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10866679" y="-247507"/>
            <a:ext cx="7421321" cy="10534507"/>
          </a:xfrm>
          <a:custGeom>
            <a:avLst/>
            <a:gdLst/>
            <a:ahLst/>
            <a:cxnLst/>
            <a:rect l="l" t="t" r="r" b="b"/>
            <a:pathLst>
              <a:path w="7421321" h="10534507">
                <a:moveTo>
                  <a:pt x="0" y="0"/>
                </a:moveTo>
                <a:lnTo>
                  <a:pt x="7421321" y="0"/>
                </a:lnTo>
                <a:lnTo>
                  <a:pt x="7421321" y="10534507"/>
                </a:lnTo>
                <a:lnTo>
                  <a:pt x="0" y="1053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053" r="-1400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648171" y="1767678"/>
            <a:ext cx="9534228" cy="272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Power-Law Distributions in Binned Empirical Data: An R Implementation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2149" y="9024938"/>
            <a:ext cx="568627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Statistics for Data Science - A.A. 2024/25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5331838"/>
            <a:ext cx="9534228" cy="80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4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Authors</a:t>
            </a:r>
            <a:r>
              <a:rPr lang="en-US" sz="2124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: </a:t>
            </a:r>
          </a:p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Cattari Simona, Toscano Giuseppe Vincenzo Dylan, Trivelli Matteo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6430568"/>
            <a:ext cx="8934797" cy="164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4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Based on</a:t>
            </a:r>
            <a:r>
              <a:rPr lang="en-US" sz="2124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: </a:t>
            </a:r>
          </a:p>
          <a:p>
            <a:pPr algn="l">
              <a:lnSpc>
                <a:spcPts val="3374"/>
              </a:lnSpc>
            </a:pPr>
            <a:r>
              <a:rPr lang="en-US" sz="2124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“Power-law distributions in binned empirical data” by Virkar and Clauset </a:t>
            </a:r>
          </a:p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65" y="7199307"/>
            <a:ext cx="18288000" cy="3125793"/>
            <a:chOff x="-13109" y="-103719"/>
            <a:chExt cx="24384000" cy="4167725"/>
          </a:xfrm>
        </p:grpSpPr>
        <p:sp>
          <p:nvSpPr>
            <p:cNvPr id="3" name="Freeform 3"/>
            <p:cNvSpPr/>
            <p:nvPr/>
          </p:nvSpPr>
          <p:spPr>
            <a:xfrm>
              <a:off x="-13109" y="-103719"/>
              <a:ext cx="24384000" cy="4167725"/>
            </a:xfrm>
            <a:custGeom>
              <a:avLst/>
              <a:gdLst/>
              <a:ahLst/>
              <a:cxnLst/>
              <a:rect l="l" t="t" r="r" b="b"/>
              <a:pathLst>
                <a:path w="24384000" h="4167725">
                  <a:moveTo>
                    <a:pt x="0" y="0"/>
                  </a:moveTo>
                  <a:lnTo>
                    <a:pt x="24384000" y="0"/>
                  </a:lnTo>
                  <a:lnTo>
                    <a:pt x="24384000" y="4167725"/>
                  </a:lnTo>
                  <a:lnTo>
                    <a:pt x="0" y="4167725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202728" y="8021899"/>
            <a:ext cx="559743" cy="559743"/>
            <a:chOff x="0" y="0"/>
            <a:chExt cx="746323" cy="746323"/>
          </a:xfrm>
        </p:grpSpPr>
        <p:sp>
          <p:nvSpPr>
            <p:cNvPr id="5" name="Freeform 5"/>
            <p:cNvSpPr/>
            <p:nvPr/>
          </p:nvSpPr>
          <p:spPr>
            <a:xfrm>
              <a:off x="6350" y="6350"/>
              <a:ext cx="733552" cy="733679"/>
            </a:xfrm>
            <a:custGeom>
              <a:avLst/>
              <a:gdLst/>
              <a:ahLst/>
              <a:cxnLst/>
              <a:rect l="l" t="t" r="r" b="b"/>
              <a:pathLst>
                <a:path w="733552" h="733679">
                  <a:moveTo>
                    <a:pt x="0" y="136906"/>
                  </a:moveTo>
                  <a:cubicBezTo>
                    <a:pt x="0" y="61341"/>
                    <a:pt x="61341" y="0"/>
                    <a:pt x="136906" y="0"/>
                  </a:cubicBezTo>
                  <a:lnTo>
                    <a:pt x="596646" y="0"/>
                  </a:lnTo>
                  <a:cubicBezTo>
                    <a:pt x="672338" y="0"/>
                    <a:pt x="733552" y="61341"/>
                    <a:pt x="733552" y="136906"/>
                  </a:cubicBezTo>
                  <a:lnTo>
                    <a:pt x="733552" y="596646"/>
                  </a:lnTo>
                  <a:cubicBezTo>
                    <a:pt x="733552" y="672338"/>
                    <a:pt x="672211" y="733552"/>
                    <a:pt x="596646" y="733552"/>
                  </a:cubicBezTo>
                  <a:lnTo>
                    <a:pt x="136906" y="733552"/>
                  </a:lnTo>
                  <a:cubicBezTo>
                    <a:pt x="61341" y="733679"/>
                    <a:pt x="0" y="672338"/>
                    <a:pt x="0" y="596646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746252" cy="746379"/>
            </a:xfrm>
            <a:custGeom>
              <a:avLst/>
              <a:gdLst/>
              <a:ahLst/>
              <a:cxnLst/>
              <a:rect l="l" t="t" r="r" b="b"/>
              <a:pathLst>
                <a:path w="746252" h="746379">
                  <a:moveTo>
                    <a:pt x="0" y="143256"/>
                  </a:moveTo>
                  <a:cubicBezTo>
                    <a:pt x="0" y="64135"/>
                    <a:pt x="64135" y="0"/>
                    <a:pt x="143256" y="0"/>
                  </a:cubicBezTo>
                  <a:lnTo>
                    <a:pt x="602996" y="0"/>
                  </a:lnTo>
                  <a:lnTo>
                    <a:pt x="602996" y="6350"/>
                  </a:lnTo>
                  <a:lnTo>
                    <a:pt x="602996" y="0"/>
                  </a:lnTo>
                  <a:cubicBezTo>
                    <a:pt x="682117" y="0"/>
                    <a:pt x="746252" y="64135"/>
                    <a:pt x="746252" y="143256"/>
                  </a:cubicBezTo>
                  <a:lnTo>
                    <a:pt x="739902" y="143256"/>
                  </a:lnTo>
                  <a:lnTo>
                    <a:pt x="746252" y="143256"/>
                  </a:lnTo>
                  <a:lnTo>
                    <a:pt x="746252" y="602996"/>
                  </a:lnTo>
                  <a:lnTo>
                    <a:pt x="739902" y="602996"/>
                  </a:lnTo>
                  <a:lnTo>
                    <a:pt x="746252" y="602996"/>
                  </a:lnTo>
                  <a:cubicBezTo>
                    <a:pt x="746252" y="682117"/>
                    <a:pt x="682117" y="746252"/>
                    <a:pt x="602996" y="746252"/>
                  </a:cubicBezTo>
                  <a:lnTo>
                    <a:pt x="602996" y="739902"/>
                  </a:lnTo>
                  <a:lnTo>
                    <a:pt x="602996" y="746252"/>
                  </a:lnTo>
                  <a:lnTo>
                    <a:pt x="143256" y="746252"/>
                  </a:lnTo>
                  <a:lnTo>
                    <a:pt x="143256" y="739902"/>
                  </a:lnTo>
                  <a:lnTo>
                    <a:pt x="143256" y="746252"/>
                  </a:lnTo>
                  <a:cubicBezTo>
                    <a:pt x="64135" y="746379"/>
                    <a:pt x="0" y="682117"/>
                    <a:pt x="0" y="602996"/>
                  </a:cubicBezTo>
                  <a:lnTo>
                    <a:pt x="0" y="143256"/>
                  </a:lnTo>
                  <a:lnTo>
                    <a:pt x="6350" y="143256"/>
                  </a:lnTo>
                  <a:lnTo>
                    <a:pt x="0" y="143256"/>
                  </a:lnTo>
                  <a:moveTo>
                    <a:pt x="12700" y="143256"/>
                  </a:moveTo>
                  <a:lnTo>
                    <a:pt x="12700" y="602996"/>
                  </a:lnTo>
                  <a:lnTo>
                    <a:pt x="6350" y="602996"/>
                  </a:lnTo>
                  <a:lnTo>
                    <a:pt x="12700" y="602996"/>
                  </a:lnTo>
                  <a:cubicBezTo>
                    <a:pt x="12700" y="675132"/>
                    <a:pt x="71120" y="733552"/>
                    <a:pt x="143256" y="733552"/>
                  </a:cubicBezTo>
                  <a:lnTo>
                    <a:pt x="602996" y="733552"/>
                  </a:lnTo>
                  <a:cubicBezTo>
                    <a:pt x="675132" y="733552"/>
                    <a:pt x="733552" y="675132"/>
                    <a:pt x="733552" y="602996"/>
                  </a:cubicBezTo>
                  <a:lnTo>
                    <a:pt x="733552" y="143256"/>
                  </a:lnTo>
                  <a:cubicBezTo>
                    <a:pt x="733679" y="71120"/>
                    <a:pt x="675132" y="12700"/>
                    <a:pt x="602996" y="12700"/>
                  </a:cubicBezTo>
                  <a:lnTo>
                    <a:pt x="143256" y="12700"/>
                  </a:lnTo>
                  <a:lnTo>
                    <a:pt x="143256" y="6350"/>
                  </a:lnTo>
                  <a:lnTo>
                    <a:pt x="143256" y="12700"/>
                  </a:lnTo>
                  <a:cubicBezTo>
                    <a:pt x="71120" y="12700"/>
                    <a:pt x="12700" y="71120"/>
                    <a:pt x="12700" y="143256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86418" y="8037934"/>
            <a:ext cx="559743" cy="559743"/>
            <a:chOff x="0" y="0"/>
            <a:chExt cx="746323" cy="746323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733552" cy="733679"/>
            </a:xfrm>
            <a:custGeom>
              <a:avLst/>
              <a:gdLst/>
              <a:ahLst/>
              <a:cxnLst/>
              <a:rect l="l" t="t" r="r" b="b"/>
              <a:pathLst>
                <a:path w="733552" h="733679">
                  <a:moveTo>
                    <a:pt x="0" y="136906"/>
                  </a:moveTo>
                  <a:cubicBezTo>
                    <a:pt x="0" y="61341"/>
                    <a:pt x="61341" y="0"/>
                    <a:pt x="136906" y="0"/>
                  </a:cubicBezTo>
                  <a:lnTo>
                    <a:pt x="596646" y="0"/>
                  </a:lnTo>
                  <a:cubicBezTo>
                    <a:pt x="672338" y="0"/>
                    <a:pt x="733552" y="61341"/>
                    <a:pt x="733552" y="136906"/>
                  </a:cubicBezTo>
                  <a:lnTo>
                    <a:pt x="733552" y="596646"/>
                  </a:lnTo>
                  <a:cubicBezTo>
                    <a:pt x="733552" y="672338"/>
                    <a:pt x="672211" y="733552"/>
                    <a:pt x="596646" y="733552"/>
                  </a:cubicBezTo>
                  <a:lnTo>
                    <a:pt x="136906" y="733552"/>
                  </a:lnTo>
                  <a:cubicBezTo>
                    <a:pt x="61341" y="733679"/>
                    <a:pt x="0" y="672338"/>
                    <a:pt x="0" y="596646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746252" cy="746379"/>
            </a:xfrm>
            <a:custGeom>
              <a:avLst/>
              <a:gdLst/>
              <a:ahLst/>
              <a:cxnLst/>
              <a:rect l="l" t="t" r="r" b="b"/>
              <a:pathLst>
                <a:path w="746252" h="746379">
                  <a:moveTo>
                    <a:pt x="0" y="143256"/>
                  </a:moveTo>
                  <a:cubicBezTo>
                    <a:pt x="0" y="64135"/>
                    <a:pt x="64135" y="0"/>
                    <a:pt x="143256" y="0"/>
                  </a:cubicBezTo>
                  <a:lnTo>
                    <a:pt x="602996" y="0"/>
                  </a:lnTo>
                  <a:lnTo>
                    <a:pt x="602996" y="6350"/>
                  </a:lnTo>
                  <a:lnTo>
                    <a:pt x="602996" y="0"/>
                  </a:lnTo>
                  <a:cubicBezTo>
                    <a:pt x="682117" y="0"/>
                    <a:pt x="746252" y="64135"/>
                    <a:pt x="746252" y="143256"/>
                  </a:cubicBezTo>
                  <a:lnTo>
                    <a:pt x="739902" y="143256"/>
                  </a:lnTo>
                  <a:lnTo>
                    <a:pt x="746252" y="143256"/>
                  </a:lnTo>
                  <a:lnTo>
                    <a:pt x="746252" y="602996"/>
                  </a:lnTo>
                  <a:lnTo>
                    <a:pt x="739902" y="602996"/>
                  </a:lnTo>
                  <a:lnTo>
                    <a:pt x="746252" y="602996"/>
                  </a:lnTo>
                  <a:cubicBezTo>
                    <a:pt x="746252" y="682117"/>
                    <a:pt x="682117" y="746252"/>
                    <a:pt x="602996" y="746252"/>
                  </a:cubicBezTo>
                  <a:lnTo>
                    <a:pt x="602996" y="739902"/>
                  </a:lnTo>
                  <a:lnTo>
                    <a:pt x="602996" y="746252"/>
                  </a:lnTo>
                  <a:lnTo>
                    <a:pt x="143256" y="746252"/>
                  </a:lnTo>
                  <a:lnTo>
                    <a:pt x="143256" y="739902"/>
                  </a:lnTo>
                  <a:lnTo>
                    <a:pt x="143256" y="746252"/>
                  </a:lnTo>
                  <a:cubicBezTo>
                    <a:pt x="64135" y="746379"/>
                    <a:pt x="0" y="682117"/>
                    <a:pt x="0" y="602996"/>
                  </a:cubicBezTo>
                  <a:lnTo>
                    <a:pt x="0" y="143256"/>
                  </a:lnTo>
                  <a:lnTo>
                    <a:pt x="6350" y="143256"/>
                  </a:lnTo>
                  <a:lnTo>
                    <a:pt x="0" y="143256"/>
                  </a:lnTo>
                  <a:moveTo>
                    <a:pt x="12700" y="143256"/>
                  </a:moveTo>
                  <a:lnTo>
                    <a:pt x="12700" y="602996"/>
                  </a:lnTo>
                  <a:lnTo>
                    <a:pt x="6350" y="602996"/>
                  </a:lnTo>
                  <a:lnTo>
                    <a:pt x="12700" y="602996"/>
                  </a:lnTo>
                  <a:cubicBezTo>
                    <a:pt x="12700" y="675132"/>
                    <a:pt x="71120" y="733552"/>
                    <a:pt x="143256" y="733552"/>
                  </a:cubicBezTo>
                  <a:lnTo>
                    <a:pt x="602996" y="733552"/>
                  </a:lnTo>
                  <a:cubicBezTo>
                    <a:pt x="675132" y="733552"/>
                    <a:pt x="733552" y="675132"/>
                    <a:pt x="733552" y="602996"/>
                  </a:cubicBezTo>
                  <a:lnTo>
                    <a:pt x="733552" y="143256"/>
                  </a:lnTo>
                  <a:cubicBezTo>
                    <a:pt x="733679" y="71120"/>
                    <a:pt x="675132" y="12700"/>
                    <a:pt x="602996" y="12700"/>
                  </a:cubicBezTo>
                  <a:lnTo>
                    <a:pt x="143256" y="12700"/>
                  </a:lnTo>
                  <a:lnTo>
                    <a:pt x="143256" y="6350"/>
                  </a:lnTo>
                  <a:lnTo>
                    <a:pt x="143256" y="12700"/>
                  </a:lnTo>
                  <a:cubicBezTo>
                    <a:pt x="71120" y="12700"/>
                    <a:pt x="12700" y="71120"/>
                    <a:pt x="12700" y="143256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7991" y="8037934"/>
            <a:ext cx="559743" cy="559743"/>
            <a:chOff x="0" y="0"/>
            <a:chExt cx="746323" cy="746323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733552" cy="733679"/>
            </a:xfrm>
            <a:custGeom>
              <a:avLst/>
              <a:gdLst/>
              <a:ahLst/>
              <a:cxnLst/>
              <a:rect l="l" t="t" r="r" b="b"/>
              <a:pathLst>
                <a:path w="733552" h="733679">
                  <a:moveTo>
                    <a:pt x="0" y="136906"/>
                  </a:moveTo>
                  <a:cubicBezTo>
                    <a:pt x="0" y="61341"/>
                    <a:pt x="61341" y="0"/>
                    <a:pt x="136906" y="0"/>
                  </a:cubicBezTo>
                  <a:lnTo>
                    <a:pt x="596646" y="0"/>
                  </a:lnTo>
                  <a:cubicBezTo>
                    <a:pt x="672338" y="0"/>
                    <a:pt x="733552" y="61341"/>
                    <a:pt x="733552" y="136906"/>
                  </a:cubicBezTo>
                  <a:lnTo>
                    <a:pt x="733552" y="596646"/>
                  </a:lnTo>
                  <a:cubicBezTo>
                    <a:pt x="733552" y="672338"/>
                    <a:pt x="672211" y="733552"/>
                    <a:pt x="596646" y="733552"/>
                  </a:cubicBezTo>
                  <a:lnTo>
                    <a:pt x="136906" y="733552"/>
                  </a:lnTo>
                  <a:cubicBezTo>
                    <a:pt x="61341" y="733679"/>
                    <a:pt x="0" y="672338"/>
                    <a:pt x="0" y="596646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746252" cy="746379"/>
            </a:xfrm>
            <a:custGeom>
              <a:avLst/>
              <a:gdLst/>
              <a:ahLst/>
              <a:cxnLst/>
              <a:rect l="l" t="t" r="r" b="b"/>
              <a:pathLst>
                <a:path w="746252" h="746379">
                  <a:moveTo>
                    <a:pt x="0" y="143256"/>
                  </a:moveTo>
                  <a:cubicBezTo>
                    <a:pt x="0" y="64135"/>
                    <a:pt x="64135" y="0"/>
                    <a:pt x="143256" y="0"/>
                  </a:cubicBezTo>
                  <a:lnTo>
                    <a:pt x="602996" y="0"/>
                  </a:lnTo>
                  <a:lnTo>
                    <a:pt x="602996" y="6350"/>
                  </a:lnTo>
                  <a:lnTo>
                    <a:pt x="602996" y="0"/>
                  </a:lnTo>
                  <a:cubicBezTo>
                    <a:pt x="682117" y="0"/>
                    <a:pt x="746252" y="64135"/>
                    <a:pt x="746252" y="143256"/>
                  </a:cubicBezTo>
                  <a:lnTo>
                    <a:pt x="739902" y="143256"/>
                  </a:lnTo>
                  <a:lnTo>
                    <a:pt x="746252" y="143256"/>
                  </a:lnTo>
                  <a:lnTo>
                    <a:pt x="746252" y="602996"/>
                  </a:lnTo>
                  <a:lnTo>
                    <a:pt x="739902" y="602996"/>
                  </a:lnTo>
                  <a:lnTo>
                    <a:pt x="746252" y="602996"/>
                  </a:lnTo>
                  <a:cubicBezTo>
                    <a:pt x="746252" y="682117"/>
                    <a:pt x="682117" y="746252"/>
                    <a:pt x="602996" y="746252"/>
                  </a:cubicBezTo>
                  <a:lnTo>
                    <a:pt x="602996" y="739902"/>
                  </a:lnTo>
                  <a:lnTo>
                    <a:pt x="602996" y="746252"/>
                  </a:lnTo>
                  <a:lnTo>
                    <a:pt x="143256" y="746252"/>
                  </a:lnTo>
                  <a:lnTo>
                    <a:pt x="143256" y="739902"/>
                  </a:lnTo>
                  <a:lnTo>
                    <a:pt x="143256" y="746252"/>
                  </a:lnTo>
                  <a:cubicBezTo>
                    <a:pt x="64135" y="746379"/>
                    <a:pt x="0" y="682117"/>
                    <a:pt x="0" y="602996"/>
                  </a:cubicBezTo>
                  <a:lnTo>
                    <a:pt x="0" y="143256"/>
                  </a:lnTo>
                  <a:lnTo>
                    <a:pt x="6350" y="143256"/>
                  </a:lnTo>
                  <a:lnTo>
                    <a:pt x="0" y="143256"/>
                  </a:lnTo>
                  <a:moveTo>
                    <a:pt x="12700" y="143256"/>
                  </a:moveTo>
                  <a:lnTo>
                    <a:pt x="12700" y="602996"/>
                  </a:lnTo>
                  <a:lnTo>
                    <a:pt x="6350" y="602996"/>
                  </a:lnTo>
                  <a:lnTo>
                    <a:pt x="12700" y="602996"/>
                  </a:lnTo>
                  <a:cubicBezTo>
                    <a:pt x="12700" y="675132"/>
                    <a:pt x="71120" y="733552"/>
                    <a:pt x="143256" y="733552"/>
                  </a:cubicBezTo>
                  <a:lnTo>
                    <a:pt x="602996" y="733552"/>
                  </a:lnTo>
                  <a:cubicBezTo>
                    <a:pt x="675132" y="733552"/>
                    <a:pt x="733552" y="675132"/>
                    <a:pt x="733552" y="602996"/>
                  </a:cubicBezTo>
                  <a:lnTo>
                    <a:pt x="733552" y="143256"/>
                  </a:lnTo>
                  <a:cubicBezTo>
                    <a:pt x="733679" y="71120"/>
                    <a:pt x="675132" y="12700"/>
                    <a:pt x="602996" y="12700"/>
                  </a:cubicBezTo>
                  <a:lnTo>
                    <a:pt x="143256" y="12700"/>
                  </a:lnTo>
                  <a:lnTo>
                    <a:pt x="143256" y="6350"/>
                  </a:lnTo>
                  <a:lnTo>
                    <a:pt x="143256" y="12700"/>
                  </a:lnTo>
                  <a:cubicBezTo>
                    <a:pt x="71120" y="12700"/>
                    <a:pt x="12700" y="71120"/>
                    <a:pt x="12700" y="143256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3" name="Freeform 13"/>
          <p:cNvSpPr/>
          <p:nvPr/>
        </p:nvSpPr>
        <p:spPr>
          <a:xfrm>
            <a:off x="372949" y="8130480"/>
            <a:ext cx="382502" cy="374650"/>
          </a:xfrm>
          <a:custGeom>
            <a:avLst/>
            <a:gdLst/>
            <a:ahLst/>
            <a:cxnLst/>
            <a:rect l="l" t="t" r="r" b="b"/>
            <a:pathLst>
              <a:path w="382502" h="374650">
                <a:moveTo>
                  <a:pt x="0" y="0"/>
                </a:moveTo>
                <a:lnTo>
                  <a:pt x="382502" y="0"/>
                </a:lnTo>
                <a:lnTo>
                  <a:pt x="382502" y="374650"/>
                </a:lnTo>
                <a:lnTo>
                  <a:pt x="0" y="374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6252308" y="8146996"/>
            <a:ext cx="460529" cy="243662"/>
          </a:xfrm>
          <a:custGeom>
            <a:avLst/>
            <a:gdLst/>
            <a:ahLst/>
            <a:cxnLst/>
            <a:rect l="l" t="t" r="r" b="b"/>
            <a:pathLst>
              <a:path w="460529" h="243662">
                <a:moveTo>
                  <a:pt x="0" y="0"/>
                </a:moveTo>
                <a:lnTo>
                  <a:pt x="460529" y="0"/>
                </a:lnTo>
                <a:lnTo>
                  <a:pt x="460529" y="243662"/>
                </a:lnTo>
                <a:lnTo>
                  <a:pt x="0" y="243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1096355" y="8171080"/>
            <a:ext cx="339867" cy="339867"/>
          </a:xfrm>
          <a:custGeom>
            <a:avLst/>
            <a:gdLst/>
            <a:ahLst/>
            <a:cxnLst/>
            <a:rect l="l" t="t" r="r" b="b"/>
            <a:pathLst>
              <a:path w="339867" h="339867">
                <a:moveTo>
                  <a:pt x="0" y="0"/>
                </a:moveTo>
                <a:lnTo>
                  <a:pt x="339867" y="0"/>
                </a:lnTo>
                <a:lnTo>
                  <a:pt x="339867" y="339867"/>
                </a:lnTo>
                <a:lnTo>
                  <a:pt x="0" y="339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9754440" y="4661169"/>
            <a:ext cx="4807705" cy="2377802"/>
          </a:xfrm>
          <a:custGeom>
            <a:avLst/>
            <a:gdLst/>
            <a:ahLst/>
            <a:cxnLst/>
            <a:rect l="l" t="t" r="r" b="b"/>
            <a:pathLst>
              <a:path w="4807705" h="2377802">
                <a:moveTo>
                  <a:pt x="0" y="0"/>
                </a:moveTo>
                <a:lnTo>
                  <a:pt x="4807705" y="0"/>
                </a:lnTo>
                <a:lnTo>
                  <a:pt x="4807705" y="2377802"/>
                </a:lnTo>
                <a:lnTo>
                  <a:pt x="0" y="23778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9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AutoShape 17"/>
          <p:cNvSpPr/>
          <p:nvPr/>
        </p:nvSpPr>
        <p:spPr>
          <a:xfrm>
            <a:off x="787705" y="3636155"/>
            <a:ext cx="4037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18" name="AutoShape 18"/>
          <p:cNvSpPr/>
          <p:nvPr/>
        </p:nvSpPr>
        <p:spPr>
          <a:xfrm>
            <a:off x="818598" y="2856499"/>
            <a:ext cx="4037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19" name="AutoShape 19"/>
          <p:cNvSpPr/>
          <p:nvPr/>
        </p:nvSpPr>
        <p:spPr>
          <a:xfrm>
            <a:off x="782479" y="3232930"/>
            <a:ext cx="4037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 rot="-10800000">
            <a:off x="9376144" y="2681269"/>
            <a:ext cx="229560" cy="1330783"/>
          </a:xfrm>
          <a:custGeom>
            <a:avLst/>
            <a:gdLst/>
            <a:ahLst/>
            <a:cxnLst/>
            <a:rect l="l" t="t" r="r" b="b"/>
            <a:pathLst>
              <a:path w="229560" h="1330783">
                <a:moveTo>
                  <a:pt x="0" y="0"/>
                </a:moveTo>
                <a:lnTo>
                  <a:pt x="229560" y="0"/>
                </a:lnTo>
                <a:lnTo>
                  <a:pt x="229560" y="1330784"/>
                </a:lnTo>
                <a:lnTo>
                  <a:pt x="0" y="1330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1" name="Group 21"/>
          <p:cNvGrpSpPr/>
          <p:nvPr/>
        </p:nvGrpSpPr>
        <p:grpSpPr>
          <a:xfrm>
            <a:off x="10943544" y="1973845"/>
            <a:ext cx="5553373" cy="2745629"/>
            <a:chOff x="-45902" y="-137345"/>
            <a:chExt cx="6540504" cy="32336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494602" cy="2994729"/>
            </a:xfrm>
            <a:custGeom>
              <a:avLst/>
              <a:gdLst/>
              <a:ahLst/>
              <a:cxnLst/>
              <a:rect l="l" t="t" r="r" b="b"/>
              <a:pathLst>
                <a:path w="6494602" h="2994729">
                  <a:moveTo>
                    <a:pt x="0" y="0"/>
                  </a:moveTo>
                  <a:lnTo>
                    <a:pt x="6494602" y="0"/>
                  </a:lnTo>
                  <a:lnTo>
                    <a:pt x="6494602" y="2994729"/>
                  </a:lnTo>
                  <a:lnTo>
                    <a:pt x="0" y="2994729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6494602" cy="3096329"/>
            </a:xfrm>
            <a:custGeom>
              <a:avLst/>
              <a:gdLst/>
              <a:ahLst/>
              <a:cxnLst/>
              <a:rect l="l" t="t" r="r" b="b"/>
              <a:pathLst>
                <a:path w="6494602" h="3096329">
                  <a:moveTo>
                    <a:pt x="0" y="2994729"/>
                  </a:moveTo>
                  <a:lnTo>
                    <a:pt x="6494602" y="2994729"/>
                  </a:lnTo>
                  <a:lnTo>
                    <a:pt x="6367602" y="3096329"/>
                  </a:lnTo>
                  <a:cubicBezTo>
                    <a:pt x="6367602" y="3096329"/>
                    <a:pt x="5377002" y="3020129"/>
                    <a:pt x="5275402" y="3020129"/>
                  </a:cubicBezTo>
                  <a:lnTo>
                    <a:pt x="1219200" y="3020129"/>
                  </a:lnTo>
                  <a:cubicBezTo>
                    <a:pt x="1117600" y="3020129"/>
                    <a:pt x="127000" y="3096329"/>
                    <a:pt x="127000" y="3096329"/>
                  </a:cubicBezTo>
                  <a:lnTo>
                    <a:pt x="0" y="2994729"/>
                  </a:lnTo>
                  <a:lnTo>
                    <a:pt x="0" y="0"/>
                  </a:lnTo>
                  <a:lnTo>
                    <a:pt x="6494602" y="0"/>
                  </a:lnTo>
                  <a:lnTo>
                    <a:pt x="6494602" y="2994729"/>
                  </a:lnTo>
                  <a:lnTo>
                    <a:pt x="12700" y="2994729"/>
                  </a:lnTo>
                  <a:lnTo>
                    <a:pt x="12700" y="2982029"/>
                  </a:lnTo>
                  <a:lnTo>
                    <a:pt x="6481902" y="2982029"/>
                  </a:lnTo>
                  <a:lnTo>
                    <a:pt x="6481902" y="12700"/>
                  </a:lnTo>
                  <a:lnTo>
                    <a:pt x="12700" y="12700"/>
                  </a:lnTo>
                  <a:lnTo>
                    <a:pt x="12700" y="2994729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45902" y="-137345"/>
              <a:ext cx="6494602" cy="3042354"/>
            </a:xfrm>
            <a:prstGeom prst="rect">
              <a:avLst/>
            </a:prstGeom>
          </p:spPr>
          <p:txBody>
            <a:bodyPr lIns="230042" tIns="230042" rIns="230042" bIns="230042" rtlCol="0" anchor="t"/>
            <a:lstStyle/>
            <a:p>
              <a:pPr algn="l">
                <a:lnSpc>
                  <a:spcPts val="2852"/>
                </a:lnSpc>
              </a:pPr>
              <a:r>
                <a:rPr lang="en-US" sz="2037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The authors propose a statistical procedure based on </a:t>
              </a:r>
              <a:r>
                <a:rPr lang="en-US" sz="2037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Maximum Likelihood Estimation (MLE)</a:t>
              </a:r>
              <a:r>
                <a:rPr lang="en-US" sz="2037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2037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Kolmogorov–Smirnov (KS)</a:t>
              </a:r>
              <a:r>
                <a:rPr lang="en-US" sz="2037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statistic, and </a:t>
              </a:r>
              <a:r>
                <a:rPr lang="en-US" sz="2037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semi-parametric bootstrap</a:t>
              </a:r>
              <a:r>
                <a:rPr lang="en-US" sz="2037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, specifically designed to work on binned datasets.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688287" y="4880244"/>
            <a:ext cx="4725845" cy="753816"/>
          </a:xfrm>
          <a:custGeom>
            <a:avLst/>
            <a:gdLst/>
            <a:ahLst/>
            <a:cxnLst/>
            <a:rect l="l" t="t" r="r" b="b"/>
            <a:pathLst>
              <a:path w="4725845" h="753816">
                <a:moveTo>
                  <a:pt x="0" y="0"/>
                </a:moveTo>
                <a:lnTo>
                  <a:pt x="4725845" y="0"/>
                </a:lnTo>
                <a:lnTo>
                  <a:pt x="4725845" y="753815"/>
                </a:lnTo>
                <a:lnTo>
                  <a:pt x="0" y="7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TextBox 26"/>
          <p:cNvSpPr txBox="1"/>
          <p:nvPr/>
        </p:nvSpPr>
        <p:spPr>
          <a:xfrm>
            <a:off x="372949" y="4147430"/>
            <a:ext cx="7845099" cy="513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4"/>
              </a:lnSpc>
            </a:pPr>
            <a:r>
              <a:rPr lang="en-US" sz="33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is a Power-law distribution?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7734" y="5643584"/>
            <a:ext cx="5787266" cy="111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4812" lvl="1" indent="-202406" algn="l">
              <a:lnSpc>
                <a:spcPts val="3061"/>
              </a:lnSpc>
              <a:buFont typeface="Arial"/>
              <a:buChar char="•"/>
            </a:pPr>
            <a:r>
              <a:rPr lang="en-US" sz="187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α &gt; 1 </a:t>
            </a:r>
            <a:r>
              <a:rPr lang="en-US" sz="187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is the scaling parameter</a:t>
            </a:r>
          </a:p>
          <a:p>
            <a:pPr marL="404812" lvl="1" indent="-202406" algn="l">
              <a:lnSpc>
                <a:spcPts val="3061"/>
              </a:lnSpc>
              <a:buFont typeface="Arial"/>
              <a:buChar char="•"/>
            </a:pPr>
            <a:r>
              <a:rPr lang="en-US" sz="187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x</a:t>
            </a:r>
            <a:r>
              <a:rPr lang="en-US" sz="187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 ≥</a:t>
            </a:r>
            <a:r>
              <a:rPr lang="en-US" sz="187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bₘᵢₙ </a:t>
            </a:r>
            <a:r>
              <a:rPr lang="en-US" sz="187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is the threshold </a:t>
            </a:r>
          </a:p>
          <a:p>
            <a:pPr marL="404812" lvl="1" indent="-202406" algn="l">
              <a:lnSpc>
                <a:spcPts val="3062"/>
              </a:lnSpc>
              <a:buFont typeface="Arial"/>
              <a:buChar char="•"/>
            </a:pPr>
            <a:r>
              <a:rPr lang="en-US" sz="187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</a:t>
            </a:r>
            <a:r>
              <a:rPr lang="en-US" sz="187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 is a normalization constant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7991" y="7371462"/>
            <a:ext cx="5252239" cy="389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52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Where do power-law appears?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3474" y="8413899"/>
            <a:ext cx="4526756" cy="35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Earthquakes, solar flares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36236" y="7962336"/>
            <a:ext cx="321781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 dirty="0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Society: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8022332"/>
            <a:ext cx="321781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Nature: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36236" y="8291741"/>
            <a:ext cx="4526905" cy="35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 dirty="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Wealth, web traffic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60460" y="8028409"/>
            <a:ext cx="321781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Our case: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60460" y="8413899"/>
            <a:ext cx="4526905" cy="35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187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Wildfire sizes, City sizes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72949" y="240087"/>
            <a:ext cx="11075806" cy="779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4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does the paper address?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7473" y="1277130"/>
            <a:ext cx="10393318" cy="102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Fitting </a:t>
            </a:r>
            <a:r>
              <a:rPr lang="en-US" sz="21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power-law</a:t>
            </a:r>
            <a:r>
              <a:rPr lang="en-US" sz="21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models to </a:t>
            </a:r>
            <a:r>
              <a:rPr lang="en-US" sz="21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binned data</a:t>
            </a:r>
          </a:p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Classical estimation methods fail</a:t>
            </a:r>
          </a:p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The goal → develop a robust and generalizable framework for: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2709029"/>
            <a:ext cx="8165306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Accurately estimating power-law parameters from histogram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4957" y="3092609"/>
            <a:ext cx="5516166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Testing the plausibility of a power-law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2919" y="3489319"/>
            <a:ext cx="6216372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Avoiding false positives caused by binning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00788" y="3181344"/>
            <a:ext cx="1103310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3211905"/>
            <a:ext cx="18288000" cy="10991850"/>
            <a:chOff x="0" y="0"/>
            <a:chExt cx="24384000" cy="1465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4655800"/>
            </a:xfrm>
            <a:custGeom>
              <a:avLst/>
              <a:gdLst/>
              <a:ahLst/>
              <a:cxnLst/>
              <a:rect l="l" t="t" r="r" b="b"/>
              <a:pathLst>
                <a:path w="24384000" h="14655800">
                  <a:moveTo>
                    <a:pt x="0" y="0"/>
                  </a:moveTo>
                  <a:lnTo>
                    <a:pt x="24384000" y="0"/>
                  </a:lnTo>
                  <a:lnTo>
                    <a:pt x="24384000" y="14655800"/>
                  </a:lnTo>
                  <a:lnTo>
                    <a:pt x="0" y="146558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8103141"/>
            <a:ext cx="1244506" cy="1478355"/>
          </a:xfrm>
          <a:custGeom>
            <a:avLst/>
            <a:gdLst/>
            <a:ahLst/>
            <a:cxnLst/>
            <a:rect l="l" t="t" r="r" b="b"/>
            <a:pathLst>
              <a:path w="1244506" h="1478355">
                <a:moveTo>
                  <a:pt x="0" y="0"/>
                </a:moveTo>
                <a:lnTo>
                  <a:pt x="1244506" y="0"/>
                </a:lnTo>
                <a:lnTo>
                  <a:pt x="1244506" y="1478355"/>
                </a:lnTo>
                <a:lnTo>
                  <a:pt x="0" y="1478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" name="Group 7"/>
          <p:cNvGrpSpPr/>
          <p:nvPr/>
        </p:nvGrpSpPr>
        <p:grpSpPr>
          <a:xfrm>
            <a:off x="1028700" y="3129779"/>
            <a:ext cx="5662046" cy="531400"/>
            <a:chOff x="0" y="0"/>
            <a:chExt cx="7549395" cy="70853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08533" cy="708533"/>
              <a:chOff x="0" y="0"/>
              <a:chExt cx="746323" cy="74632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350" y="6350"/>
                <a:ext cx="733552" cy="733679"/>
              </a:xfrm>
              <a:custGeom>
                <a:avLst/>
                <a:gdLst/>
                <a:ahLst/>
                <a:cxnLst/>
                <a:rect l="l" t="t" r="r" b="b"/>
                <a:pathLst>
                  <a:path w="733552" h="733679">
                    <a:moveTo>
                      <a:pt x="0" y="136906"/>
                    </a:moveTo>
                    <a:cubicBezTo>
                      <a:pt x="0" y="61341"/>
                      <a:pt x="61341" y="0"/>
                      <a:pt x="136906" y="0"/>
                    </a:cubicBezTo>
                    <a:lnTo>
                      <a:pt x="596646" y="0"/>
                    </a:lnTo>
                    <a:cubicBezTo>
                      <a:pt x="672338" y="0"/>
                      <a:pt x="733552" y="61341"/>
                      <a:pt x="733552" y="136906"/>
                    </a:cubicBezTo>
                    <a:lnTo>
                      <a:pt x="733552" y="596646"/>
                    </a:lnTo>
                    <a:cubicBezTo>
                      <a:pt x="733552" y="672338"/>
                      <a:pt x="672211" y="733552"/>
                      <a:pt x="596646" y="733552"/>
                    </a:cubicBezTo>
                    <a:lnTo>
                      <a:pt x="136906" y="733552"/>
                    </a:lnTo>
                    <a:cubicBezTo>
                      <a:pt x="61341" y="733679"/>
                      <a:pt x="0" y="672338"/>
                      <a:pt x="0" y="596646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0" y="0"/>
                <a:ext cx="746252" cy="746379"/>
              </a:xfrm>
              <a:custGeom>
                <a:avLst/>
                <a:gdLst/>
                <a:ahLst/>
                <a:cxnLst/>
                <a:rect l="l" t="t" r="r" b="b"/>
                <a:pathLst>
                  <a:path w="746252" h="746379">
                    <a:moveTo>
                      <a:pt x="0" y="143256"/>
                    </a:moveTo>
                    <a:cubicBezTo>
                      <a:pt x="0" y="64135"/>
                      <a:pt x="64135" y="0"/>
                      <a:pt x="143256" y="0"/>
                    </a:cubicBezTo>
                    <a:lnTo>
                      <a:pt x="602996" y="0"/>
                    </a:lnTo>
                    <a:lnTo>
                      <a:pt x="602996" y="6350"/>
                    </a:lnTo>
                    <a:lnTo>
                      <a:pt x="602996" y="0"/>
                    </a:lnTo>
                    <a:cubicBezTo>
                      <a:pt x="682117" y="0"/>
                      <a:pt x="746252" y="64135"/>
                      <a:pt x="746252" y="143256"/>
                    </a:cubicBezTo>
                    <a:lnTo>
                      <a:pt x="739902" y="143256"/>
                    </a:lnTo>
                    <a:lnTo>
                      <a:pt x="746252" y="143256"/>
                    </a:lnTo>
                    <a:lnTo>
                      <a:pt x="746252" y="602996"/>
                    </a:lnTo>
                    <a:lnTo>
                      <a:pt x="739902" y="602996"/>
                    </a:lnTo>
                    <a:lnTo>
                      <a:pt x="746252" y="602996"/>
                    </a:lnTo>
                    <a:cubicBezTo>
                      <a:pt x="746252" y="682117"/>
                      <a:pt x="682117" y="746252"/>
                      <a:pt x="602996" y="746252"/>
                    </a:cubicBezTo>
                    <a:lnTo>
                      <a:pt x="602996" y="739902"/>
                    </a:lnTo>
                    <a:lnTo>
                      <a:pt x="602996" y="746252"/>
                    </a:lnTo>
                    <a:lnTo>
                      <a:pt x="143256" y="746252"/>
                    </a:lnTo>
                    <a:lnTo>
                      <a:pt x="143256" y="739902"/>
                    </a:lnTo>
                    <a:lnTo>
                      <a:pt x="143256" y="746252"/>
                    </a:lnTo>
                    <a:cubicBezTo>
                      <a:pt x="64135" y="746379"/>
                      <a:pt x="0" y="682117"/>
                      <a:pt x="0" y="602996"/>
                    </a:cubicBezTo>
                    <a:lnTo>
                      <a:pt x="0" y="143256"/>
                    </a:lnTo>
                    <a:lnTo>
                      <a:pt x="6350" y="143256"/>
                    </a:lnTo>
                    <a:lnTo>
                      <a:pt x="0" y="143256"/>
                    </a:lnTo>
                    <a:moveTo>
                      <a:pt x="12700" y="143256"/>
                    </a:moveTo>
                    <a:lnTo>
                      <a:pt x="12700" y="602996"/>
                    </a:lnTo>
                    <a:lnTo>
                      <a:pt x="6350" y="602996"/>
                    </a:lnTo>
                    <a:lnTo>
                      <a:pt x="12700" y="602996"/>
                    </a:lnTo>
                    <a:cubicBezTo>
                      <a:pt x="12700" y="675132"/>
                      <a:pt x="71120" y="733552"/>
                      <a:pt x="143256" y="733552"/>
                    </a:cubicBezTo>
                    <a:lnTo>
                      <a:pt x="602996" y="733552"/>
                    </a:lnTo>
                    <a:cubicBezTo>
                      <a:pt x="675132" y="733552"/>
                      <a:pt x="733552" y="675132"/>
                      <a:pt x="733552" y="602996"/>
                    </a:cubicBezTo>
                    <a:lnTo>
                      <a:pt x="733552" y="143256"/>
                    </a:lnTo>
                    <a:cubicBezTo>
                      <a:pt x="733679" y="71120"/>
                      <a:pt x="675132" y="12700"/>
                      <a:pt x="602996" y="12700"/>
                    </a:cubicBezTo>
                    <a:lnTo>
                      <a:pt x="143256" y="12700"/>
                    </a:lnTo>
                    <a:lnTo>
                      <a:pt x="143256" y="6350"/>
                    </a:lnTo>
                    <a:lnTo>
                      <a:pt x="143256" y="12700"/>
                    </a:lnTo>
                    <a:cubicBezTo>
                      <a:pt x="71120" y="12700"/>
                      <a:pt x="12700" y="71120"/>
                      <a:pt x="12700" y="143256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23853" y="-29154"/>
              <a:ext cx="260826" cy="659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8"/>
                </a:lnSpc>
                <a:spcBef>
                  <a:spcPct val="0"/>
                </a:spcBef>
              </a:pPr>
              <a:r>
                <a:rPr lang="en-US" sz="2769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3522" y="-38679"/>
              <a:ext cx="6685872" cy="668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  <a:spcBef>
                  <a:spcPct val="0"/>
                </a:spcBef>
              </a:pPr>
              <a:r>
                <a:rPr lang="en-US" sz="2776">
                  <a:solidFill>
                    <a:srgbClr val="3B3535"/>
                  </a:solidFill>
                  <a:latin typeface="Alexandria"/>
                  <a:ea typeface="Alexandria"/>
                  <a:cs typeface="Alexandria"/>
                  <a:sym typeface="Alexandria"/>
                </a:rPr>
                <a:t>Loss of details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4240409"/>
            <a:ext cx="5662046" cy="531400"/>
            <a:chOff x="0" y="0"/>
            <a:chExt cx="7549395" cy="708533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08533" cy="708533"/>
              <a:chOff x="0" y="0"/>
              <a:chExt cx="746323" cy="7463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350" y="6350"/>
                <a:ext cx="733552" cy="733679"/>
              </a:xfrm>
              <a:custGeom>
                <a:avLst/>
                <a:gdLst/>
                <a:ahLst/>
                <a:cxnLst/>
                <a:rect l="l" t="t" r="r" b="b"/>
                <a:pathLst>
                  <a:path w="733552" h="733679">
                    <a:moveTo>
                      <a:pt x="0" y="136906"/>
                    </a:moveTo>
                    <a:cubicBezTo>
                      <a:pt x="0" y="61341"/>
                      <a:pt x="61341" y="0"/>
                      <a:pt x="136906" y="0"/>
                    </a:cubicBezTo>
                    <a:lnTo>
                      <a:pt x="596646" y="0"/>
                    </a:lnTo>
                    <a:cubicBezTo>
                      <a:pt x="672338" y="0"/>
                      <a:pt x="733552" y="61341"/>
                      <a:pt x="733552" y="136906"/>
                    </a:cubicBezTo>
                    <a:lnTo>
                      <a:pt x="733552" y="596646"/>
                    </a:lnTo>
                    <a:cubicBezTo>
                      <a:pt x="733552" y="672338"/>
                      <a:pt x="672211" y="733552"/>
                      <a:pt x="596646" y="733552"/>
                    </a:cubicBezTo>
                    <a:lnTo>
                      <a:pt x="136906" y="733552"/>
                    </a:lnTo>
                    <a:cubicBezTo>
                      <a:pt x="61341" y="733679"/>
                      <a:pt x="0" y="672338"/>
                      <a:pt x="0" y="596646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0" y="0"/>
                <a:ext cx="746252" cy="746379"/>
              </a:xfrm>
              <a:custGeom>
                <a:avLst/>
                <a:gdLst/>
                <a:ahLst/>
                <a:cxnLst/>
                <a:rect l="l" t="t" r="r" b="b"/>
                <a:pathLst>
                  <a:path w="746252" h="746379">
                    <a:moveTo>
                      <a:pt x="0" y="143256"/>
                    </a:moveTo>
                    <a:cubicBezTo>
                      <a:pt x="0" y="64135"/>
                      <a:pt x="64135" y="0"/>
                      <a:pt x="143256" y="0"/>
                    </a:cubicBezTo>
                    <a:lnTo>
                      <a:pt x="602996" y="0"/>
                    </a:lnTo>
                    <a:lnTo>
                      <a:pt x="602996" y="6350"/>
                    </a:lnTo>
                    <a:lnTo>
                      <a:pt x="602996" y="0"/>
                    </a:lnTo>
                    <a:cubicBezTo>
                      <a:pt x="682117" y="0"/>
                      <a:pt x="746252" y="64135"/>
                      <a:pt x="746252" y="143256"/>
                    </a:cubicBezTo>
                    <a:lnTo>
                      <a:pt x="739902" y="143256"/>
                    </a:lnTo>
                    <a:lnTo>
                      <a:pt x="746252" y="143256"/>
                    </a:lnTo>
                    <a:lnTo>
                      <a:pt x="746252" y="602996"/>
                    </a:lnTo>
                    <a:lnTo>
                      <a:pt x="739902" y="602996"/>
                    </a:lnTo>
                    <a:lnTo>
                      <a:pt x="746252" y="602996"/>
                    </a:lnTo>
                    <a:cubicBezTo>
                      <a:pt x="746252" y="682117"/>
                      <a:pt x="682117" y="746252"/>
                      <a:pt x="602996" y="746252"/>
                    </a:cubicBezTo>
                    <a:lnTo>
                      <a:pt x="602996" y="739902"/>
                    </a:lnTo>
                    <a:lnTo>
                      <a:pt x="602996" y="746252"/>
                    </a:lnTo>
                    <a:lnTo>
                      <a:pt x="143256" y="746252"/>
                    </a:lnTo>
                    <a:lnTo>
                      <a:pt x="143256" y="739902"/>
                    </a:lnTo>
                    <a:lnTo>
                      <a:pt x="143256" y="746252"/>
                    </a:lnTo>
                    <a:cubicBezTo>
                      <a:pt x="64135" y="746379"/>
                      <a:pt x="0" y="682117"/>
                      <a:pt x="0" y="602996"/>
                    </a:cubicBezTo>
                    <a:lnTo>
                      <a:pt x="0" y="143256"/>
                    </a:lnTo>
                    <a:lnTo>
                      <a:pt x="6350" y="143256"/>
                    </a:lnTo>
                    <a:lnTo>
                      <a:pt x="0" y="143256"/>
                    </a:lnTo>
                    <a:moveTo>
                      <a:pt x="12700" y="143256"/>
                    </a:moveTo>
                    <a:lnTo>
                      <a:pt x="12700" y="602996"/>
                    </a:lnTo>
                    <a:lnTo>
                      <a:pt x="6350" y="602996"/>
                    </a:lnTo>
                    <a:lnTo>
                      <a:pt x="12700" y="602996"/>
                    </a:lnTo>
                    <a:cubicBezTo>
                      <a:pt x="12700" y="675132"/>
                      <a:pt x="71120" y="733552"/>
                      <a:pt x="143256" y="733552"/>
                    </a:cubicBezTo>
                    <a:lnTo>
                      <a:pt x="602996" y="733552"/>
                    </a:lnTo>
                    <a:cubicBezTo>
                      <a:pt x="675132" y="733552"/>
                      <a:pt x="733552" y="675132"/>
                      <a:pt x="733552" y="602996"/>
                    </a:cubicBezTo>
                    <a:lnTo>
                      <a:pt x="733552" y="143256"/>
                    </a:lnTo>
                    <a:cubicBezTo>
                      <a:pt x="733679" y="71120"/>
                      <a:pt x="675132" y="12700"/>
                      <a:pt x="602996" y="12700"/>
                    </a:cubicBezTo>
                    <a:lnTo>
                      <a:pt x="143256" y="12700"/>
                    </a:lnTo>
                    <a:lnTo>
                      <a:pt x="143256" y="6350"/>
                    </a:lnTo>
                    <a:lnTo>
                      <a:pt x="143256" y="12700"/>
                    </a:lnTo>
                    <a:cubicBezTo>
                      <a:pt x="71120" y="12700"/>
                      <a:pt x="12700" y="71120"/>
                      <a:pt x="12700" y="143256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23853" y="-29154"/>
              <a:ext cx="260826" cy="659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8"/>
                </a:lnSpc>
                <a:spcBef>
                  <a:spcPct val="0"/>
                </a:spcBef>
              </a:pPr>
              <a:r>
                <a:rPr lang="en-US" sz="2769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3522" y="-38679"/>
              <a:ext cx="6685872" cy="668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  <a:spcBef>
                  <a:spcPct val="0"/>
                </a:spcBef>
              </a:pPr>
              <a:r>
                <a:rPr lang="en-US" sz="2776">
                  <a:solidFill>
                    <a:srgbClr val="3B3535"/>
                  </a:solidFill>
                  <a:latin typeface="Alexandria"/>
                  <a:ea typeface="Alexandria"/>
                  <a:cs typeface="Alexandria"/>
                  <a:sym typeface="Alexandria"/>
                </a:rPr>
                <a:t>Hidden patterns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5352833"/>
            <a:ext cx="5662046" cy="531400"/>
            <a:chOff x="0" y="0"/>
            <a:chExt cx="7549395" cy="708533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708533" cy="708533"/>
              <a:chOff x="0" y="0"/>
              <a:chExt cx="746323" cy="7463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350" y="6350"/>
                <a:ext cx="733552" cy="733679"/>
              </a:xfrm>
              <a:custGeom>
                <a:avLst/>
                <a:gdLst/>
                <a:ahLst/>
                <a:cxnLst/>
                <a:rect l="l" t="t" r="r" b="b"/>
                <a:pathLst>
                  <a:path w="733552" h="733679">
                    <a:moveTo>
                      <a:pt x="0" y="136906"/>
                    </a:moveTo>
                    <a:cubicBezTo>
                      <a:pt x="0" y="61341"/>
                      <a:pt x="61341" y="0"/>
                      <a:pt x="136906" y="0"/>
                    </a:cubicBezTo>
                    <a:lnTo>
                      <a:pt x="596646" y="0"/>
                    </a:lnTo>
                    <a:cubicBezTo>
                      <a:pt x="672338" y="0"/>
                      <a:pt x="733552" y="61341"/>
                      <a:pt x="733552" y="136906"/>
                    </a:cubicBezTo>
                    <a:lnTo>
                      <a:pt x="733552" y="596646"/>
                    </a:lnTo>
                    <a:cubicBezTo>
                      <a:pt x="733552" y="672338"/>
                      <a:pt x="672211" y="733552"/>
                      <a:pt x="596646" y="733552"/>
                    </a:cubicBezTo>
                    <a:lnTo>
                      <a:pt x="136906" y="733552"/>
                    </a:lnTo>
                    <a:cubicBezTo>
                      <a:pt x="61341" y="733679"/>
                      <a:pt x="0" y="672338"/>
                      <a:pt x="0" y="596646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0" y="0"/>
                <a:ext cx="746252" cy="746379"/>
              </a:xfrm>
              <a:custGeom>
                <a:avLst/>
                <a:gdLst/>
                <a:ahLst/>
                <a:cxnLst/>
                <a:rect l="l" t="t" r="r" b="b"/>
                <a:pathLst>
                  <a:path w="746252" h="746379">
                    <a:moveTo>
                      <a:pt x="0" y="143256"/>
                    </a:moveTo>
                    <a:cubicBezTo>
                      <a:pt x="0" y="64135"/>
                      <a:pt x="64135" y="0"/>
                      <a:pt x="143256" y="0"/>
                    </a:cubicBezTo>
                    <a:lnTo>
                      <a:pt x="602996" y="0"/>
                    </a:lnTo>
                    <a:lnTo>
                      <a:pt x="602996" y="6350"/>
                    </a:lnTo>
                    <a:lnTo>
                      <a:pt x="602996" y="0"/>
                    </a:lnTo>
                    <a:cubicBezTo>
                      <a:pt x="682117" y="0"/>
                      <a:pt x="746252" y="64135"/>
                      <a:pt x="746252" y="143256"/>
                    </a:cubicBezTo>
                    <a:lnTo>
                      <a:pt x="739902" y="143256"/>
                    </a:lnTo>
                    <a:lnTo>
                      <a:pt x="746252" y="143256"/>
                    </a:lnTo>
                    <a:lnTo>
                      <a:pt x="746252" y="602996"/>
                    </a:lnTo>
                    <a:lnTo>
                      <a:pt x="739902" y="602996"/>
                    </a:lnTo>
                    <a:lnTo>
                      <a:pt x="746252" y="602996"/>
                    </a:lnTo>
                    <a:cubicBezTo>
                      <a:pt x="746252" y="682117"/>
                      <a:pt x="682117" y="746252"/>
                      <a:pt x="602996" y="746252"/>
                    </a:cubicBezTo>
                    <a:lnTo>
                      <a:pt x="602996" y="739902"/>
                    </a:lnTo>
                    <a:lnTo>
                      <a:pt x="602996" y="746252"/>
                    </a:lnTo>
                    <a:lnTo>
                      <a:pt x="143256" y="746252"/>
                    </a:lnTo>
                    <a:lnTo>
                      <a:pt x="143256" y="739902"/>
                    </a:lnTo>
                    <a:lnTo>
                      <a:pt x="143256" y="746252"/>
                    </a:lnTo>
                    <a:cubicBezTo>
                      <a:pt x="64135" y="746379"/>
                      <a:pt x="0" y="682117"/>
                      <a:pt x="0" y="602996"/>
                    </a:cubicBezTo>
                    <a:lnTo>
                      <a:pt x="0" y="143256"/>
                    </a:lnTo>
                    <a:lnTo>
                      <a:pt x="6350" y="143256"/>
                    </a:lnTo>
                    <a:lnTo>
                      <a:pt x="0" y="143256"/>
                    </a:lnTo>
                    <a:moveTo>
                      <a:pt x="12700" y="143256"/>
                    </a:moveTo>
                    <a:lnTo>
                      <a:pt x="12700" y="602996"/>
                    </a:lnTo>
                    <a:lnTo>
                      <a:pt x="6350" y="602996"/>
                    </a:lnTo>
                    <a:lnTo>
                      <a:pt x="12700" y="602996"/>
                    </a:lnTo>
                    <a:cubicBezTo>
                      <a:pt x="12700" y="675132"/>
                      <a:pt x="71120" y="733552"/>
                      <a:pt x="143256" y="733552"/>
                    </a:cubicBezTo>
                    <a:lnTo>
                      <a:pt x="602996" y="733552"/>
                    </a:lnTo>
                    <a:cubicBezTo>
                      <a:pt x="675132" y="733552"/>
                      <a:pt x="733552" y="675132"/>
                      <a:pt x="733552" y="602996"/>
                    </a:cubicBezTo>
                    <a:lnTo>
                      <a:pt x="733552" y="143256"/>
                    </a:lnTo>
                    <a:cubicBezTo>
                      <a:pt x="733679" y="71120"/>
                      <a:pt x="675132" y="12700"/>
                      <a:pt x="602996" y="12700"/>
                    </a:cubicBezTo>
                    <a:lnTo>
                      <a:pt x="143256" y="12700"/>
                    </a:lnTo>
                    <a:lnTo>
                      <a:pt x="143256" y="6350"/>
                    </a:lnTo>
                    <a:lnTo>
                      <a:pt x="143256" y="12700"/>
                    </a:lnTo>
                    <a:cubicBezTo>
                      <a:pt x="71120" y="12700"/>
                      <a:pt x="12700" y="71120"/>
                      <a:pt x="12700" y="143256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23853" y="-29154"/>
              <a:ext cx="260826" cy="662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8"/>
                </a:lnSpc>
                <a:spcBef>
                  <a:spcPct val="0"/>
                </a:spcBef>
              </a:pPr>
              <a:r>
                <a:rPr lang="en-US" sz="2769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3522" y="-38679"/>
              <a:ext cx="6685872" cy="668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  <a:spcBef>
                  <a:spcPct val="0"/>
                </a:spcBef>
              </a:pPr>
              <a:r>
                <a:rPr lang="en-US" sz="2776">
                  <a:solidFill>
                    <a:srgbClr val="3B3535"/>
                  </a:solidFill>
                  <a:latin typeface="Alexandria"/>
                  <a:ea typeface="Alexandria"/>
                  <a:cs typeface="Alexandria"/>
                  <a:sym typeface="Alexandria"/>
                </a:rPr>
                <a:t>Biased estimations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6465258"/>
            <a:ext cx="5662046" cy="531400"/>
            <a:chOff x="0" y="0"/>
            <a:chExt cx="7549395" cy="708533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08533" cy="708533"/>
              <a:chOff x="0" y="0"/>
              <a:chExt cx="746323" cy="7463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350" y="6350"/>
                <a:ext cx="733552" cy="733679"/>
              </a:xfrm>
              <a:custGeom>
                <a:avLst/>
                <a:gdLst/>
                <a:ahLst/>
                <a:cxnLst/>
                <a:rect l="l" t="t" r="r" b="b"/>
                <a:pathLst>
                  <a:path w="733552" h="733679">
                    <a:moveTo>
                      <a:pt x="0" y="136906"/>
                    </a:moveTo>
                    <a:cubicBezTo>
                      <a:pt x="0" y="61341"/>
                      <a:pt x="61341" y="0"/>
                      <a:pt x="136906" y="0"/>
                    </a:cubicBezTo>
                    <a:lnTo>
                      <a:pt x="596646" y="0"/>
                    </a:lnTo>
                    <a:cubicBezTo>
                      <a:pt x="672338" y="0"/>
                      <a:pt x="733552" y="61341"/>
                      <a:pt x="733552" y="136906"/>
                    </a:cubicBezTo>
                    <a:lnTo>
                      <a:pt x="733552" y="596646"/>
                    </a:lnTo>
                    <a:cubicBezTo>
                      <a:pt x="733552" y="672338"/>
                      <a:pt x="672211" y="733552"/>
                      <a:pt x="596646" y="733552"/>
                    </a:cubicBezTo>
                    <a:lnTo>
                      <a:pt x="136906" y="733552"/>
                    </a:lnTo>
                    <a:cubicBezTo>
                      <a:pt x="61341" y="733679"/>
                      <a:pt x="0" y="672338"/>
                      <a:pt x="0" y="596646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0" y="0"/>
                <a:ext cx="746252" cy="746379"/>
              </a:xfrm>
              <a:custGeom>
                <a:avLst/>
                <a:gdLst/>
                <a:ahLst/>
                <a:cxnLst/>
                <a:rect l="l" t="t" r="r" b="b"/>
                <a:pathLst>
                  <a:path w="746252" h="746379">
                    <a:moveTo>
                      <a:pt x="0" y="143256"/>
                    </a:moveTo>
                    <a:cubicBezTo>
                      <a:pt x="0" y="64135"/>
                      <a:pt x="64135" y="0"/>
                      <a:pt x="143256" y="0"/>
                    </a:cubicBezTo>
                    <a:lnTo>
                      <a:pt x="602996" y="0"/>
                    </a:lnTo>
                    <a:lnTo>
                      <a:pt x="602996" y="6350"/>
                    </a:lnTo>
                    <a:lnTo>
                      <a:pt x="602996" y="0"/>
                    </a:lnTo>
                    <a:cubicBezTo>
                      <a:pt x="682117" y="0"/>
                      <a:pt x="746252" y="64135"/>
                      <a:pt x="746252" y="143256"/>
                    </a:cubicBezTo>
                    <a:lnTo>
                      <a:pt x="739902" y="143256"/>
                    </a:lnTo>
                    <a:lnTo>
                      <a:pt x="746252" y="143256"/>
                    </a:lnTo>
                    <a:lnTo>
                      <a:pt x="746252" y="602996"/>
                    </a:lnTo>
                    <a:lnTo>
                      <a:pt x="739902" y="602996"/>
                    </a:lnTo>
                    <a:lnTo>
                      <a:pt x="746252" y="602996"/>
                    </a:lnTo>
                    <a:cubicBezTo>
                      <a:pt x="746252" y="682117"/>
                      <a:pt x="682117" y="746252"/>
                      <a:pt x="602996" y="746252"/>
                    </a:cubicBezTo>
                    <a:lnTo>
                      <a:pt x="602996" y="739902"/>
                    </a:lnTo>
                    <a:lnTo>
                      <a:pt x="602996" y="746252"/>
                    </a:lnTo>
                    <a:lnTo>
                      <a:pt x="143256" y="746252"/>
                    </a:lnTo>
                    <a:lnTo>
                      <a:pt x="143256" y="739902"/>
                    </a:lnTo>
                    <a:lnTo>
                      <a:pt x="143256" y="746252"/>
                    </a:lnTo>
                    <a:cubicBezTo>
                      <a:pt x="64135" y="746379"/>
                      <a:pt x="0" y="682117"/>
                      <a:pt x="0" y="602996"/>
                    </a:cubicBezTo>
                    <a:lnTo>
                      <a:pt x="0" y="143256"/>
                    </a:lnTo>
                    <a:lnTo>
                      <a:pt x="6350" y="143256"/>
                    </a:lnTo>
                    <a:lnTo>
                      <a:pt x="0" y="143256"/>
                    </a:lnTo>
                    <a:moveTo>
                      <a:pt x="12700" y="143256"/>
                    </a:moveTo>
                    <a:lnTo>
                      <a:pt x="12700" y="602996"/>
                    </a:lnTo>
                    <a:lnTo>
                      <a:pt x="6350" y="602996"/>
                    </a:lnTo>
                    <a:lnTo>
                      <a:pt x="12700" y="602996"/>
                    </a:lnTo>
                    <a:cubicBezTo>
                      <a:pt x="12700" y="675132"/>
                      <a:pt x="71120" y="733552"/>
                      <a:pt x="143256" y="733552"/>
                    </a:cubicBezTo>
                    <a:lnTo>
                      <a:pt x="602996" y="733552"/>
                    </a:lnTo>
                    <a:cubicBezTo>
                      <a:pt x="675132" y="733552"/>
                      <a:pt x="733552" y="675132"/>
                      <a:pt x="733552" y="602996"/>
                    </a:cubicBezTo>
                    <a:lnTo>
                      <a:pt x="733552" y="143256"/>
                    </a:lnTo>
                    <a:cubicBezTo>
                      <a:pt x="733679" y="71120"/>
                      <a:pt x="675132" y="12700"/>
                      <a:pt x="602996" y="12700"/>
                    </a:cubicBezTo>
                    <a:lnTo>
                      <a:pt x="143256" y="12700"/>
                    </a:lnTo>
                    <a:lnTo>
                      <a:pt x="143256" y="6350"/>
                    </a:lnTo>
                    <a:lnTo>
                      <a:pt x="143256" y="12700"/>
                    </a:lnTo>
                    <a:cubicBezTo>
                      <a:pt x="71120" y="12700"/>
                      <a:pt x="12700" y="71120"/>
                      <a:pt x="12700" y="143256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23853" y="-29154"/>
              <a:ext cx="260826" cy="662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98"/>
                </a:lnSpc>
                <a:spcBef>
                  <a:spcPct val="0"/>
                </a:spcBef>
              </a:pPr>
              <a:r>
                <a:rPr lang="en-US" sz="2769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3522" y="-38679"/>
              <a:ext cx="6685872" cy="668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0"/>
                </a:lnSpc>
                <a:spcBef>
                  <a:spcPct val="0"/>
                </a:spcBef>
              </a:pPr>
              <a:r>
                <a:rPr lang="en-US" sz="2776">
                  <a:solidFill>
                    <a:srgbClr val="3B3535"/>
                  </a:solidFill>
                  <a:latin typeface="Alexandria"/>
                  <a:ea typeface="Alexandria"/>
                  <a:cs typeface="Alexandria"/>
                  <a:sym typeface="Alexandria"/>
                </a:rPr>
                <a:t>Increased uncertainty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9260877" y="3129779"/>
            <a:ext cx="7998423" cy="3967272"/>
          </a:xfrm>
          <a:custGeom>
            <a:avLst/>
            <a:gdLst/>
            <a:ahLst/>
            <a:cxnLst/>
            <a:rect l="l" t="t" r="r" b="b"/>
            <a:pathLst>
              <a:path w="7998423" h="3967272">
                <a:moveTo>
                  <a:pt x="0" y="0"/>
                </a:moveTo>
                <a:lnTo>
                  <a:pt x="7998423" y="0"/>
                </a:lnTo>
                <a:lnTo>
                  <a:pt x="7998423" y="3967272"/>
                </a:lnTo>
                <a:lnTo>
                  <a:pt x="0" y="396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TextBox 32"/>
          <p:cNvSpPr txBox="1"/>
          <p:nvPr/>
        </p:nvSpPr>
        <p:spPr>
          <a:xfrm>
            <a:off x="880170" y="672554"/>
            <a:ext cx="11374069" cy="77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5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The Problem - Working with Bins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1998440"/>
            <a:ext cx="8115300" cy="55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3526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happens with binned data?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79534" y="8341920"/>
            <a:ext cx="4106674" cy="55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7"/>
              </a:lnSpc>
            </a:pPr>
            <a:r>
              <a:rPr lang="en-US" sz="353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Our challenge: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79534" y="8800205"/>
            <a:ext cx="14924534" cy="53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278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How do we test for power laws when data comes in bins?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8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48349" y="0"/>
            <a:ext cx="17555252" cy="10287000"/>
            <a:chOff x="0" y="0"/>
            <a:chExt cx="23407002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07002" cy="13716000"/>
            </a:xfrm>
            <a:custGeom>
              <a:avLst/>
              <a:gdLst/>
              <a:ahLst/>
              <a:cxnLst/>
              <a:rect l="l" t="t" r="r" b="b"/>
              <a:pathLst>
                <a:path w="23407002" h="13716000">
                  <a:moveTo>
                    <a:pt x="0" y="0"/>
                  </a:moveTo>
                  <a:lnTo>
                    <a:pt x="23407002" y="0"/>
                  </a:lnTo>
                  <a:lnTo>
                    <a:pt x="2340700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1" y="2822601"/>
            <a:ext cx="843557" cy="1012329"/>
            <a:chOff x="0" y="0"/>
            <a:chExt cx="1124743" cy="134977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124712" cy="1349756"/>
            </a:xfrm>
            <a:custGeom>
              <a:avLst/>
              <a:gdLst/>
              <a:ahLst/>
              <a:cxnLst/>
              <a:rect l="l" t="t" r="r" b="b"/>
              <a:pathLst>
                <a:path w="1124712" h="1349756">
                  <a:moveTo>
                    <a:pt x="0" y="0"/>
                  </a:moveTo>
                  <a:lnTo>
                    <a:pt x="1124712" y="0"/>
                  </a:lnTo>
                  <a:lnTo>
                    <a:pt x="1124712" y="1349756"/>
                  </a:lnTo>
                  <a:lnTo>
                    <a:pt x="0" y="1349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0" r="-383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6921" y="3759741"/>
            <a:ext cx="843557" cy="1012329"/>
            <a:chOff x="0" y="0"/>
            <a:chExt cx="1124743" cy="134977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24712" cy="1349756"/>
            </a:xfrm>
            <a:custGeom>
              <a:avLst/>
              <a:gdLst/>
              <a:ahLst/>
              <a:cxnLst/>
              <a:rect l="l" t="t" r="r" b="b"/>
              <a:pathLst>
                <a:path w="1124712" h="1349756">
                  <a:moveTo>
                    <a:pt x="0" y="0"/>
                  </a:moveTo>
                  <a:lnTo>
                    <a:pt x="1124712" y="0"/>
                  </a:lnTo>
                  <a:lnTo>
                    <a:pt x="1124712" y="1349756"/>
                  </a:lnTo>
                  <a:lnTo>
                    <a:pt x="0" y="1349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0" r="-383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6921" y="4733181"/>
            <a:ext cx="843557" cy="1012329"/>
            <a:chOff x="0" y="0"/>
            <a:chExt cx="1124743" cy="134977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124712" cy="1349756"/>
            </a:xfrm>
            <a:custGeom>
              <a:avLst/>
              <a:gdLst/>
              <a:ahLst/>
              <a:cxnLst/>
              <a:rect l="l" t="t" r="r" b="b"/>
              <a:pathLst>
                <a:path w="1124712" h="1349756">
                  <a:moveTo>
                    <a:pt x="0" y="0"/>
                  </a:moveTo>
                  <a:lnTo>
                    <a:pt x="1124712" y="0"/>
                  </a:lnTo>
                  <a:lnTo>
                    <a:pt x="1124712" y="1349756"/>
                  </a:lnTo>
                  <a:lnTo>
                    <a:pt x="0" y="1349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0" r="-383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964" y="5671294"/>
            <a:ext cx="843557" cy="1012329"/>
            <a:chOff x="0" y="0"/>
            <a:chExt cx="1124743" cy="134977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24712" cy="1349756"/>
            </a:xfrm>
            <a:custGeom>
              <a:avLst/>
              <a:gdLst/>
              <a:ahLst/>
              <a:cxnLst/>
              <a:rect l="l" t="t" r="r" b="b"/>
              <a:pathLst>
                <a:path w="1124712" h="1349756">
                  <a:moveTo>
                    <a:pt x="0" y="0"/>
                  </a:moveTo>
                  <a:lnTo>
                    <a:pt x="1124712" y="0"/>
                  </a:lnTo>
                  <a:lnTo>
                    <a:pt x="1124712" y="1349756"/>
                  </a:lnTo>
                  <a:lnTo>
                    <a:pt x="0" y="1349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0" r="-383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6921" y="6638033"/>
            <a:ext cx="846600" cy="1012329"/>
            <a:chOff x="0" y="0"/>
            <a:chExt cx="1128800" cy="1349772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128769" cy="1349756"/>
            </a:xfrm>
            <a:custGeom>
              <a:avLst/>
              <a:gdLst/>
              <a:ahLst/>
              <a:cxnLst/>
              <a:rect l="l" t="t" r="r" b="b"/>
              <a:pathLst>
                <a:path w="1128769" h="1349756">
                  <a:moveTo>
                    <a:pt x="0" y="0"/>
                  </a:moveTo>
                  <a:lnTo>
                    <a:pt x="1128769" y="0"/>
                  </a:lnTo>
                  <a:lnTo>
                    <a:pt x="1128769" y="1349756"/>
                  </a:lnTo>
                  <a:lnTo>
                    <a:pt x="0" y="1349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9" r="-202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964" y="7578973"/>
            <a:ext cx="843557" cy="1012329"/>
            <a:chOff x="0" y="0"/>
            <a:chExt cx="1124743" cy="134977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124712" cy="1349756"/>
            </a:xfrm>
            <a:custGeom>
              <a:avLst/>
              <a:gdLst/>
              <a:ahLst/>
              <a:cxnLst/>
              <a:rect l="l" t="t" r="r" b="b"/>
              <a:pathLst>
                <a:path w="1124712" h="1349756">
                  <a:moveTo>
                    <a:pt x="0" y="0"/>
                  </a:moveTo>
                  <a:lnTo>
                    <a:pt x="1124712" y="0"/>
                  </a:lnTo>
                  <a:lnTo>
                    <a:pt x="1124712" y="1349756"/>
                  </a:lnTo>
                  <a:lnTo>
                    <a:pt x="0" y="1349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80" r="-383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303096" y="4718348"/>
            <a:ext cx="389036" cy="389036"/>
            <a:chOff x="0" y="0"/>
            <a:chExt cx="518715" cy="518715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505968" cy="505968"/>
            </a:xfrm>
            <a:custGeom>
              <a:avLst/>
              <a:gdLst/>
              <a:ahLst/>
              <a:cxnLst/>
              <a:rect l="l" t="t" r="r" b="b"/>
              <a:pathLst>
                <a:path w="505968" h="505968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411480" y="0"/>
                  </a:lnTo>
                  <a:cubicBezTo>
                    <a:pt x="463677" y="0"/>
                    <a:pt x="505968" y="42291"/>
                    <a:pt x="505968" y="94488"/>
                  </a:cubicBezTo>
                  <a:lnTo>
                    <a:pt x="505968" y="411480"/>
                  </a:lnTo>
                  <a:cubicBezTo>
                    <a:pt x="505968" y="463677"/>
                    <a:pt x="463677" y="505968"/>
                    <a:pt x="411480" y="505968"/>
                  </a:cubicBezTo>
                  <a:lnTo>
                    <a:pt x="94488" y="505968"/>
                  </a:lnTo>
                  <a:cubicBezTo>
                    <a:pt x="42291" y="505968"/>
                    <a:pt x="0" y="463677"/>
                    <a:pt x="0" y="41148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518668" cy="518668"/>
            </a:xfrm>
            <a:custGeom>
              <a:avLst/>
              <a:gdLst/>
              <a:ahLst/>
              <a:cxnLst/>
              <a:rect l="l" t="t" r="r" b="b"/>
              <a:pathLst>
                <a:path w="518668" h="518668">
                  <a:moveTo>
                    <a:pt x="0" y="100838"/>
                  </a:moveTo>
                  <a:cubicBezTo>
                    <a:pt x="0" y="45212"/>
                    <a:pt x="45212" y="0"/>
                    <a:pt x="100838" y="0"/>
                  </a:cubicBezTo>
                  <a:lnTo>
                    <a:pt x="417830" y="0"/>
                  </a:lnTo>
                  <a:lnTo>
                    <a:pt x="417830" y="6350"/>
                  </a:lnTo>
                  <a:lnTo>
                    <a:pt x="417830" y="0"/>
                  </a:lnTo>
                  <a:lnTo>
                    <a:pt x="417830" y="6350"/>
                  </a:lnTo>
                  <a:lnTo>
                    <a:pt x="417830" y="0"/>
                  </a:lnTo>
                  <a:cubicBezTo>
                    <a:pt x="473583" y="0"/>
                    <a:pt x="518668" y="45212"/>
                    <a:pt x="518668" y="100838"/>
                  </a:cubicBezTo>
                  <a:lnTo>
                    <a:pt x="518668" y="417830"/>
                  </a:lnTo>
                  <a:lnTo>
                    <a:pt x="512318" y="417830"/>
                  </a:lnTo>
                  <a:lnTo>
                    <a:pt x="518668" y="417830"/>
                  </a:lnTo>
                  <a:cubicBezTo>
                    <a:pt x="518668" y="473583"/>
                    <a:pt x="473456" y="518668"/>
                    <a:pt x="417830" y="518668"/>
                  </a:cubicBezTo>
                  <a:lnTo>
                    <a:pt x="417830" y="512318"/>
                  </a:lnTo>
                  <a:lnTo>
                    <a:pt x="417830" y="518668"/>
                  </a:lnTo>
                  <a:lnTo>
                    <a:pt x="100838" y="518668"/>
                  </a:lnTo>
                  <a:lnTo>
                    <a:pt x="100838" y="512318"/>
                  </a:lnTo>
                  <a:lnTo>
                    <a:pt x="100838" y="518668"/>
                  </a:lnTo>
                  <a:cubicBezTo>
                    <a:pt x="45212" y="518668"/>
                    <a:pt x="0" y="473583"/>
                    <a:pt x="0" y="417830"/>
                  </a:cubicBezTo>
                  <a:lnTo>
                    <a:pt x="0" y="100838"/>
                  </a:lnTo>
                  <a:lnTo>
                    <a:pt x="6350" y="100838"/>
                  </a:lnTo>
                  <a:lnTo>
                    <a:pt x="0" y="100838"/>
                  </a:lnTo>
                  <a:moveTo>
                    <a:pt x="12700" y="100838"/>
                  </a:moveTo>
                  <a:lnTo>
                    <a:pt x="12700" y="417830"/>
                  </a:lnTo>
                  <a:lnTo>
                    <a:pt x="6350" y="417830"/>
                  </a:lnTo>
                  <a:lnTo>
                    <a:pt x="12700" y="417830"/>
                  </a:lnTo>
                  <a:cubicBezTo>
                    <a:pt x="12700" y="466471"/>
                    <a:pt x="52197" y="505968"/>
                    <a:pt x="100838" y="505968"/>
                  </a:cubicBezTo>
                  <a:lnTo>
                    <a:pt x="417830" y="505968"/>
                  </a:lnTo>
                  <a:cubicBezTo>
                    <a:pt x="466471" y="505968"/>
                    <a:pt x="505968" y="466471"/>
                    <a:pt x="505968" y="417830"/>
                  </a:cubicBezTo>
                  <a:lnTo>
                    <a:pt x="505968" y="100838"/>
                  </a:lnTo>
                  <a:lnTo>
                    <a:pt x="512318" y="100838"/>
                  </a:lnTo>
                  <a:lnTo>
                    <a:pt x="505968" y="100838"/>
                  </a:lnTo>
                  <a:cubicBezTo>
                    <a:pt x="505968" y="52197"/>
                    <a:pt x="466598" y="12700"/>
                    <a:pt x="417830" y="12700"/>
                  </a:cubicBezTo>
                  <a:lnTo>
                    <a:pt x="100838" y="12700"/>
                  </a:lnTo>
                  <a:lnTo>
                    <a:pt x="100838" y="6350"/>
                  </a:lnTo>
                  <a:lnTo>
                    <a:pt x="100838" y="12700"/>
                  </a:lnTo>
                  <a:cubicBezTo>
                    <a:pt x="52197" y="12700"/>
                    <a:pt x="12700" y="52197"/>
                    <a:pt x="12700" y="100838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303096" y="5788423"/>
            <a:ext cx="389036" cy="389036"/>
            <a:chOff x="0" y="0"/>
            <a:chExt cx="518715" cy="518715"/>
          </a:xfrm>
        </p:grpSpPr>
        <p:sp>
          <p:nvSpPr>
            <p:cNvPr id="22" name="Freeform 22"/>
            <p:cNvSpPr/>
            <p:nvPr/>
          </p:nvSpPr>
          <p:spPr>
            <a:xfrm>
              <a:off x="6350" y="6350"/>
              <a:ext cx="505968" cy="505968"/>
            </a:xfrm>
            <a:custGeom>
              <a:avLst/>
              <a:gdLst/>
              <a:ahLst/>
              <a:cxnLst/>
              <a:rect l="l" t="t" r="r" b="b"/>
              <a:pathLst>
                <a:path w="505968" h="505968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411480" y="0"/>
                  </a:lnTo>
                  <a:cubicBezTo>
                    <a:pt x="463677" y="0"/>
                    <a:pt x="505968" y="42291"/>
                    <a:pt x="505968" y="94488"/>
                  </a:cubicBezTo>
                  <a:lnTo>
                    <a:pt x="505968" y="411480"/>
                  </a:lnTo>
                  <a:cubicBezTo>
                    <a:pt x="505968" y="463677"/>
                    <a:pt x="463677" y="505968"/>
                    <a:pt x="411480" y="505968"/>
                  </a:cubicBezTo>
                  <a:lnTo>
                    <a:pt x="94488" y="505968"/>
                  </a:lnTo>
                  <a:cubicBezTo>
                    <a:pt x="42291" y="505968"/>
                    <a:pt x="0" y="463677"/>
                    <a:pt x="0" y="41148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518668" cy="518668"/>
            </a:xfrm>
            <a:custGeom>
              <a:avLst/>
              <a:gdLst/>
              <a:ahLst/>
              <a:cxnLst/>
              <a:rect l="l" t="t" r="r" b="b"/>
              <a:pathLst>
                <a:path w="518668" h="518668">
                  <a:moveTo>
                    <a:pt x="0" y="100838"/>
                  </a:moveTo>
                  <a:cubicBezTo>
                    <a:pt x="0" y="45212"/>
                    <a:pt x="45212" y="0"/>
                    <a:pt x="100838" y="0"/>
                  </a:cubicBezTo>
                  <a:lnTo>
                    <a:pt x="417830" y="0"/>
                  </a:lnTo>
                  <a:lnTo>
                    <a:pt x="417830" y="6350"/>
                  </a:lnTo>
                  <a:lnTo>
                    <a:pt x="417830" y="0"/>
                  </a:lnTo>
                  <a:lnTo>
                    <a:pt x="417830" y="6350"/>
                  </a:lnTo>
                  <a:lnTo>
                    <a:pt x="417830" y="0"/>
                  </a:lnTo>
                  <a:cubicBezTo>
                    <a:pt x="473583" y="0"/>
                    <a:pt x="518668" y="45212"/>
                    <a:pt x="518668" y="100838"/>
                  </a:cubicBezTo>
                  <a:lnTo>
                    <a:pt x="518668" y="417830"/>
                  </a:lnTo>
                  <a:lnTo>
                    <a:pt x="512318" y="417830"/>
                  </a:lnTo>
                  <a:lnTo>
                    <a:pt x="518668" y="417830"/>
                  </a:lnTo>
                  <a:cubicBezTo>
                    <a:pt x="518668" y="473583"/>
                    <a:pt x="473456" y="518668"/>
                    <a:pt x="417830" y="518668"/>
                  </a:cubicBezTo>
                  <a:lnTo>
                    <a:pt x="417830" y="512318"/>
                  </a:lnTo>
                  <a:lnTo>
                    <a:pt x="417830" y="518668"/>
                  </a:lnTo>
                  <a:lnTo>
                    <a:pt x="100838" y="518668"/>
                  </a:lnTo>
                  <a:lnTo>
                    <a:pt x="100838" y="512318"/>
                  </a:lnTo>
                  <a:lnTo>
                    <a:pt x="100838" y="518668"/>
                  </a:lnTo>
                  <a:cubicBezTo>
                    <a:pt x="45212" y="518668"/>
                    <a:pt x="0" y="473583"/>
                    <a:pt x="0" y="417830"/>
                  </a:cubicBezTo>
                  <a:lnTo>
                    <a:pt x="0" y="100838"/>
                  </a:lnTo>
                  <a:lnTo>
                    <a:pt x="6350" y="100838"/>
                  </a:lnTo>
                  <a:lnTo>
                    <a:pt x="0" y="100838"/>
                  </a:lnTo>
                  <a:moveTo>
                    <a:pt x="12700" y="100838"/>
                  </a:moveTo>
                  <a:lnTo>
                    <a:pt x="12700" y="417830"/>
                  </a:lnTo>
                  <a:lnTo>
                    <a:pt x="6350" y="417830"/>
                  </a:lnTo>
                  <a:lnTo>
                    <a:pt x="12700" y="417830"/>
                  </a:lnTo>
                  <a:cubicBezTo>
                    <a:pt x="12700" y="466471"/>
                    <a:pt x="52197" y="505968"/>
                    <a:pt x="100838" y="505968"/>
                  </a:cubicBezTo>
                  <a:lnTo>
                    <a:pt x="417830" y="505968"/>
                  </a:lnTo>
                  <a:cubicBezTo>
                    <a:pt x="466471" y="505968"/>
                    <a:pt x="505968" y="466471"/>
                    <a:pt x="505968" y="417830"/>
                  </a:cubicBezTo>
                  <a:lnTo>
                    <a:pt x="505968" y="100838"/>
                  </a:lnTo>
                  <a:lnTo>
                    <a:pt x="512318" y="100838"/>
                  </a:lnTo>
                  <a:lnTo>
                    <a:pt x="505968" y="100838"/>
                  </a:lnTo>
                  <a:cubicBezTo>
                    <a:pt x="505968" y="52197"/>
                    <a:pt x="466598" y="12700"/>
                    <a:pt x="417830" y="12700"/>
                  </a:cubicBezTo>
                  <a:lnTo>
                    <a:pt x="100838" y="12700"/>
                  </a:lnTo>
                  <a:lnTo>
                    <a:pt x="100838" y="6350"/>
                  </a:lnTo>
                  <a:lnTo>
                    <a:pt x="100838" y="12700"/>
                  </a:lnTo>
                  <a:cubicBezTo>
                    <a:pt x="52197" y="12700"/>
                    <a:pt x="12700" y="52197"/>
                    <a:pt x="12700" y="100838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303096" y="6910884"/>
            <a:ext cx="389036" cy="389036"/>
            <a:chOff x="0" y="0"/>
            <a:chExt cx="518715" cy="518715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505968" cy="505968"/>
            </a:xfrm>
            <a:custGeom>
              <a:avLst/>
              <a:gdLst/>
              <a:ahLst/>
              <a:cxnLst/>
              <a:rect l="l" t="t" r="r" b="b"/>
              <a:pathLst>
                <a:path w="505968" h="505968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411480" y="0"/>
                  </a:lnTo>
                  <a:cubicBezTo>
                    <a:pt x="463677" y="0"/>
                    <a:pt x="505968" y="42291"/>
                    <a:pt x="505968" y="94488"/>
                  </a:cubicBezTo>
                  <a:lnTo>
                    <a:pt x="505968" y="411480"/>
                  </a:lnTo>
                  <a:cubicBezTo>
                    <a:pt x="505968" y="463677"/>
                    <a:pt x="463677" y="505968"/>
                    <a:pt x="411480" y="505968"/>
                  </a:cubicBezTo>
                  <a:lnTo>
                    <a:pt x="94488" y="505968"/>
                  </a:lnTo>
                  <a:cubicBezTo>
                    <a:pt x="42291" y="505968"/>
                    <a:pt x="0" y="463677"/>
                    <a:pt x="0" y="41148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518668" cy="518668"/>
            </a:xfrm>
            <a:custGeom>
              <a:avLst/>
              <a:gdLst/>
              <a:ahLst/>
              <a:cxnLst/>
              <a:rect l="l" t="t" r="r" b="b"/>
              <a:pathLst>
                <a:path w="518668" h="518668">
                  <a:moveTo>
                    <a:pt x="0" y="100838"/>
                  </a:moveTo>
                  <a:cubicBezTo>
                    <a:pt x="0" y="45212"/>
                    <a:pt x="45212" y="0"/>
                    <a:pt x="100838" y="0"/>
                  </a:cubicBezTo>
                  <a:lnTo>
                    <a:pt x="417830" y="0"/>
                  </a:lnTo>
                  <a:lnTo>
                    <a:pt x="417830" y="6350"/>
                  </a:lnTo>
                  <a:lnTo>
                    <a:pt x="417830" y="0"/>
                  </a:lnTo>
                  <a:lnTo>
                    <a:pt x="417830" y="6350"/>
                  </a:lnTo>
                  <a:lnTo>
                    <a:pt x="417830" y="0"/>
                  </a:lnTo>
                  <a:cubicBezTo>
                    <a:pt x="473583" y="0"/>
                    <a:pt x="518668" y="45212"/>
                    <a:pt x="518668" y="100838"/>
                  </a:cubicBezTo>
                  <a:lnTo>
                    <a:pt x="518668" y="417830"/>
                  </a:lnTo>
                  <a:lnTo>
                    <a:pt x="512318" y="417830"/>
                  </a:lnTo>
                  <a:lnTo>
                    <a:pt x="518668" y="417830"/>
                  </a:lnTo>
                  <a:cubicBezTo>
                    <a:pt x="518668" y="473583"/>
                    <a:pt x="473456" y="518668"/>
                    <a:pt x="417830" y="518668"/>
                  </a:cubicBezTo>
                  <a:lnTo>
                    <a:pt x="417830" y="512318"/>
                  </a:lnTo>
                  <a:lnTo>
                    <a:pt x="417830" y="518668"/>
                  </a:lnTo>
                  <a:lnTo>
                    <a:pt x="100838" y="518668"/>
                  </a:lnTo>
                  <a:lnTo>
                    <a:pt x="100838" y="512318"/>
                  </a:lnTo>
                  <a:lnTo>
                    <a:pt x="100838" y="518668"/>
                  </a:lnTo>
                  <a:cubicBezTo>
                    <a:pt x="45212" y="518668"/>
                    <a:pt x="0" y="473583"/>
                    <a:pt x="0" y="417830"/>
                  </a:cubicBezTo>
                  <a:lnTo>
                    <a:pt x="0" y="100838"/>
                  </a:lnTo>
                  <a:lnTo>
                    <a:pt x="6350" y="100838"/>
                  </a:lnTo>
                  <a:lnTo>
                    <a:pt x="0" y="100838"/>
                  </a:lnTo>
                  <a:moveTo>
                    <a:pt x="12700" y="100838"/>
                  </a:moveTo>
                  <a:lnTo>
                    <a:pt x="12700" y="417830"/>
                  </a:lnTo>
                  <a:lnTo>
                    <a:pt x="6350" y="417830"/>
                  </a:lnTo>
                  <a:lnTo>
                    <a:pt x="12700" y="417830"/>
                  </a:lnTo>
                  <a:cubicBezTo>
                    <a:pt x="12700" y="466471"/>
                    <a:pt x="52197" y="505968"/>
                    <a:pt x="100838" y="505968"/>
                  </a:cubicBezTo>
                  <a:lnTo>
                    <a:pt x="417830" y="505968"/>
                  </a:lnTo>
                  <a:cubicBezTo>
                    <a:pt x="466471" y="505968"/>
                    <a:pt x="505968" y="466471"/>
                    <a:pt x="505968" y="417830"/>
                  </a:cubicBezTo>
                  <a:lnTo>
                    <a:pt x="505968" y="100838"/>
                  </a:lnTo>
                  <a:lnTo>
                    <a:pt x="512318" y="100838"/>
                  </a:lnTo>
                  <a:lnTo>
                    <a:pt x="505968" y="100838"/>
                  </a:lnTo>
                  <a:cubicBezTo>
                    <a:pt x="505968" y="52197"/>
                    <a:pt x="466598" y="12700"/>
                    <a:pt x="417830" y="12700"/>
                  </a:cubicBezTo>
                  <a:lnTo>
                    <a:pt x="100838" y="12700"/>
                  </a:lnTo>
                  <a:lnTo>
                    <a:pt x="100838" y="6350"/>
                  </a:lnTo>
                  <a:lnTo>
                    <a:pt x="100838" y="12700"/>
                  </a:lnTo>
                  <a:cubicBezTo>
                    <a:pt x="52197" y="12700"/>
                    <a:pt x="12700" y="52197"/>
                    <a:pt x="12700" y="100838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7" name="Freeform 27"/>
          <p:cNvSpPr/>
          <p:nvPr/>
        </p:nvSpPr>
        <p:spPr>
          <a:xfrm rot="1340235">
            <a:off x="15037331" y="680920"/>
            <a:ext cx="2803160" cy="2876377"/>
          </a:xfrm>
          <a:custGeom>
            <a:avLst/>
            <a:gdLst/>
            <a:ahLst/>
            <a:cxnLst/>
            <a:rect l="l" t="t" r="r" b="b"/>
            <a:pathLst>
              <a:path w="2803160" h="2876377">
                <a:moveTo>
                  <a:pt x="0" y="0"/>
                </a:moveTo>
                <a:lnTo>
                  <a:pt x="2803160" y="0"/>
                </a:lnTo>
                <a:lnTo>
                  <a:pt x="2803160" y="2876377"/>
                </a:lnTo>
                <a:lnTo>
                  <a:pt x="0" y="28763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590550" y="444847"/>
            <a:ext cx="16087500" cy="774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Methodology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0550" y="1775646"/>
            <a:ext cx="9065153" cy="28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8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Our Task: </a:t>
            </a:r>
            <a:r>
              <a:rPr lang="en-US" sz="18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Full R implementation of the Virkar &amp; Clauset framework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19376" y="3055715"/>
            <a:ext cx="5990184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Synthetic data   </a:t>
            </a:r>
          </a:p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Real-world datasets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34598" y="3963011"/>
            <a:ext cx="5990184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Linear  </a:t>
            </a:r>
          </a:p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Logarithmic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34598" y="6546027"/>
            <a:ext cx="5713750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log-normal</a:t>
            </a:r>
          </a:p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exponential</a:t>
            </a:r>
          </a:p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stretched exponential</a:t>
            </a:r>
          </a:p>
          <a:p>
            <a:pPr marL="388620" lvl="1" indent="-194310" algn="l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power-law with cutoff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02730" y="3192240"/>
            <a:ext cx="2220069" cy="2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02730" y="4129381"/>
            <a:ext cx="2220069" cy="2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Bin Schemes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02730" y="5091038"/>
            <a:ext cx="2220069" cy="28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Fit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02730" y="6029151"/>
            <a:ext cx="2220069" cy="28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02730" y="6874322"/>
            <a:ext cx="3431843" cy="53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Alternative Models</a:t>
            </a:r>
          </a:p>
          <a:p>
            <a:pPr algn="just">
              <a:lnSpc>
                <a:spcPts val="2125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Evaluation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02730" y="7948613"/>
            <a:ext cx="2220069" cy="2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Result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03096" y="3818058"/>
            <a:ext cx="2220069" cy="2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Three Main Step: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64413" y="4780245"/>
            <a:ext cx="266402" cy="294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828144" y="4708823"/>
            <a:ext cx="2220069" cy="2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Fit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28144" y="5017924"/>
            <a:ext cx="5013572" cy="52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Estimate the best-fitting parameters: </a:t>
            </a:r>
            <a:r>
              <a:rPr lang="en-US" sz="1312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scaling exponent</a:t>
            </a:r>
            <a:r>
              <a:rPr lang="en-US" sz="131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α </a:t>
            </a:r>
            <a:r>
              <a:rPr lang="en-US" sz="1312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and</a:t>
            </a:r>
            <a:r>
              <a:rPr lang="en-US" sz="131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bmin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64413" y="5851128"/>
            <a:ext cx="266402" cy="27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828144" y="5778898"/>
            <a:ext cx="2220069" cy="2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828144" y="6078017"/>
            <a:ext cx="5013572" cy="52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Evaluate the goodness of fit using a p-value (model accepted if </a:t>
            </a:r>
            <a:r>
              <a:rPr lang="en-US" sz="131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 ≥ 0.1</a:t>
            </a:r>
            <a:r>
              <a:rPr lang="en-US" sz="131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64413" y="6977038"/>
            <a:ext cx="266402" cy="294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828144" y="6872784"/>
            <a:ext cx="2220069" cy="2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Compare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828144" y="7087047"/>
            <a:ext cx="5013572" cy="25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the power-law model to </a:t>
            </a:r>
            <a:r>
              <a:rPr lang="en-US" sz="131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alternative distributions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3109834"/>
            <a:ext cx="18288000" cy="5259666"/>
            <a:chOff x="0" y="0"/>
            <a:chExt cx="52095952" cy="14982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095952" cy="14982901"/>
            </a:xfrm>
            <a:custGeom>
              <a:avLst/>
              <a:gdLst/>
              <a:ahLst/>
              <a:cxnLst/>
              <a:rect l="l" t="t" r="r" b="b"/>
              <a:pathLst>
                <a:path w="52095952" h="14982901">
                  <a:moveTo>
                    <a:pt x="0" y="0"/>
                  </a:moveTo>
                  <a:lnTo>
                    <a:pt x="52095952" y="0"/>
                  </a:lnTo>
                  <a:lnTo>
                    <a:pt x="52095952" y="14982901"/>
                  </a:lnTo>
                  <a:lnTo>
                    <a:pt x="0" y="14982901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92415" y="3638393"/>
            <a:ext cx="5815157" cy="3965626"/>
            <a:chOff x="0" y="0"/>
            <a:chExt cx="7753543" cy="5287501"/>
          </a:xfrm>
        </p:grpSpPr>
        <p:sp>
          <p:nvSpPr>
            <p:cNvPr id="7" name="Freeform 7"/>
            <p:cNvSpPr/>
            <p:nvPr/>
          </p:nvSpPr>
          <p:spPr>
            <a:xfrm>
              <a:off x="6976" y="25096"/>
              <a:ext cx="7739546" cy="5237123"/>
            </a:xfrm>
            <a:custGeom>
              <a:avLst/>
              <a:gdLst/>
              <a:ahLst/>
              <a:cxnLst/>
              <a:rect l="l" t="t" r="r" b="b"/>
              <a:pathLst>
                <a:path w="7739546" h="5237123">
                  <a:moveTo>
                    <a:pt x="0" y="599303"/>
                  </a:moveTo>
                  <a:cubicBezTo>
                    <a:pt x="0" y="268532"/>
                    <a:pt x="75205" y="0"/>
                    <a:pt x="167851" y="0"/>
                  </a:cubicBezTo>
                  <a:lnTo>
                    <a:pt x="7571696" y="0"/>
                  </a:lnTo>
                  <a:cubicBezTo>
                    <a:pt x="7664481" y="0"/>
                    <a:pt x="7739547" y="268532"/>
                    <a:pt x="7739547" y="599303"/>
                  </a:cubicBezTo>
                  <a:lnTo>
                    <a:pt x="7739547" y="4637820"/>
                  </a:lnTo>
                  <a:cubicBezTo>
                    <a:pt x="7739547" y="4969093"/>
                    <a:pt x="7664342" y="5237123"/>
                    <a:pt x="7571696" y="5237123"/>
                  </a:cubicBezTo>
                  <a:lnTo>
                    <a:pt x="167851" y="5237123"/>
                  </a:lnTo>
                  <a:cubicBezTo>
                    <a:pt x="75205" y="5237123"/>
                    <a:pt x="0" y="4969093"/>
                    <a:pt x="0" y="463782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7753499" cy="5287315"/>
            </a:xfrm>
            <a:custGeom>
              <a:avLst/>
              <a:gdLst/>
              <a:ahLst/>
              <a:cxnLst/>
              <a:rect l="l" t="t" r="r" b="b"/>
              <a:pathLst>
                <a:path w="7753499" h="5287315">
                  <a:moveTo>
                    <a:pt x="0" y="624399"/>
                  </a:moveTo>
                  <a:cubicBezTo>
                    <a:pt x="0" y="279574"/>
                    <a:pt x="78414" y="0"/>
                    <a:pt x="174827" y="0"/>
                  </a:cubicBezTo>
                  <a:lnTo>
                    <a:pt x="7578672" y="0"/>
                  </a:lnTo>
                  <a:lnTo>
                    <a:pt x="7578672" y="25096"/>
                  </a:lnTo>
                  <a:lnTo>
                    <a:pt x="7578672" y="0"/>
                  </a:lnTo>
                  <a:cubicBezTo>
                    <a:pt x="7675224" y="0"/>
                    <a:pt x="7753499" y="279574"/>
                    <a:pt x="7753499" y="624399"/>
                  </a:cubicBezTo>
                  <a:lnTo>
                    <a:pt x="7746523" y="624399"/>
                  </a:lnTo>
                  <a:lnTo>
                    <a:pt x="7753499" y="624399"/>
                  </a:lnTo>
                  <a:lnTo>
                    <a:pt x="7753499" y="4662916"/>
                  </a:lnTo>
                  <a:lnTo>
                    <a:pt x="7746523" y="4662916"/>
                  </a:lnTo>
                  <a:lnTo>
                    <a:pt x="7753499" y="4662916"/>
                  </a:lnTo>
                  <a:cubicBezTo>
                    <a:pt x="7753499" y="5008243"/>
                    <a:pt x="7675084" y="5287315"/>
                    <a:pt x="7578672" y="5287315"/>
                  </a:cubicBezTo>
                  <a:lnTo>
                    <a:pt x="7578672" y="5262219"/>
                  </a:lnTo>
                  <a:lnTo>
                    <a:pt x="7578672" y="5287315"/>
                  </a:lnTo>
                  <a:lnTo>
                    <a:pt x="174827" y="5287315"/>
                  </a:lnTo>
                  <a:lnTo>
                    <a:pt x="174827" y="5262219"/>
                  </a:lnTo>
                  <a:lnTo>
                    <a:pt x="174827" y="5287315"/>
                  </a:lnTo>
                  <a:cubicBezTo>
                    <a:pt x="78414" y="5287315"/>
                    <a:pt x="0" y="5008243"/>
                    <a:pt x="0" y="4662916"/>
                  </a:cubicBezTo>
                  <a:lnTo>
                    <a:pt x="0" y="624399"/>
                  </a:lnTo>
                  <a:lnTo>
                    <a:pt x="6976" y="624399"/>
                  </a:lnTo>
                  <a:lnTo>
                    <a:pt x="0" y="624399"/>
                  </a:lnTo>
                  <a:moveTo>
                    <a:pt x="13953" y="624399"/>
                  </a:moveTo>
                  <a:lnTo>
                    <a:pt x="13953" y="4662916"/>
                  </a:lnTo>
                  <a:lnTo>
                    <a:pt x="6976" y="4662916"/>
                  </a:lnTo>
                  <a:lnTo>
                    <a:pt x="13953" y="4662916"/>
                  </a:lnTo>
                  <a:cubicBezTo>
                    <a:pt x="13953" y="4980135"/>
                    <a:pt x="85948" y="5237123"/>
                    <a:pt x="174827" y="5237123"/>
                  </a:cubicBezTo>
                  <a:lnTo>
                    <a:pt x="7578672" y="5237123"/>
                  </a:lnTo>
                  <a:cubicBezTo>
                    <a:pt x="7667550" y="5237123"/>
                    <a:pt x="7739546" y="4979633"/>
                    <a:pt x="7739546" y="4662916"/>
                  </a:cubicBezTo>
                  <a:lnTo>
                    <a:pt x="7739546" y="624399"/>
                  </a:lnTo>
                  <a:cubicBezTo>
                    <a:pt x="7739546" y="307682"/>
                    <a:pt x="7667550" y="50193"/>
                    <a:pt x="7578672" y="50193"/>
                  </a:cubicBezTo>
                  <a:lnTo>
                    <a:pt x="174827" y="50193"/>
                  </a:lnTo>
                  <a:lnTo>
                    <a:pt x="174827" y="25096"/>
                  </a:lnTo>
                  <a:lnTo>
                    <a:pt x="174827" y="50193"/>
                  </a:lnTo>
                  <a:cubicBezTo>
                    <a:pt x="85948" y="50193"/>
                    <a:pt x="13953" y="307682"/>
                    <a:pt x="13953" y="624399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86" y="3638393"/>
            <a:ext cx="4895824" cy="3965626"/>
            <a:chOff x="0" y="0"/>
            <a:chExt cx="6527765" cy="5287501"/>
          </a:xfrm>
        </p:grpSpPr>
        <p:sp>
          <p:nvSpPr>
            <p:cNvPr id="10" name="Freeform 10"/>
            <p:cNvSpPr/>
            <p:nvPr/>
          </p:nvSpPr>
          <p:spPr>
            <a:xfrm>
              <a:off x="5873" y="25096"/>
              <a:ext cx="6515981" cy="5237123"/>
            </a:xfrm>
            <a:custGeom>
              <a:avLst/>
              <a:gdLst/>
              <a:ahLst/>
              <a:cxnLst/>
              <a:rect l="l" t="t" r="r" b="b"/>
              <a:pathLst>
                <a:path w="6515981" h="5237123">
                  <a:moveTo>
                    <a:pt x="0" y="599303"/>
                  </a:moveTo>
                  <a:cubicBezTo>
                    <a:pt x="0" y="268532"/>
                    <a:pt x="63316" y="0"/>
                    <a:pt x="141315" y="0"/>
                  </a:cubicBezTo>
                  <a:lnTo>
                    <a:pt x="6374667" y="0"/>
                  </a:lnTo>
                  <a:cubicBezTo>
                    <a:pt x="6452784" y="0"/>
                    <a:pt x="6515982" y="268532"/>
                    <a:pt x="6515982" y="599303"/>
                  </a:cubicBezTo>
                  <a:lnTo>
                    <a:pt x="6515982" y="4637820"/>
                  </a:lnTo>
                  <a:cubicBezTo>
                    <a:pt x="6515982" y="4969093"/>
                    <a:pt x="6452666" y="5237123"/>
                    <a:pt x="6374667" y="5237123"/>
                  </a:cubicBezTo>
                  <a:lnTo>
                    <a:pt x="141315" y="5237123"/>
                  </a:lnTo>
                  <a:cubicBezTo>
                    <a:pt x="63316" y="5237123"/>
                    <a:pt x="0" y="4969093"/>
                    <a:pt x="0" y="463782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6527728" cy="5287315"/>
            </a:xfrm>
            <a:custGeom>
              <a:avLst/>
              <a:gdLst/>
              <a:ahLst/>
              <a:cxnLst/>
              <a:rect l="l" t="t" r="r" b="b"/>
              <a:pathLst>
                <a:path w="6527728" h="5287315">
                  <a:moveTo>
                    <a:pt x="0" y="624399"/>
                  </a:moveTo>
                  <a:cubicBezTo>
                    <a:pt x="0" y="279574"/>
                    <a:pt x="66017" y="0"/>
                    <a:pt x="147188" y="0"/>
                  </a:cubicBezTo>
                  <a:lnTo>
                    <a:pt x="6380540" y="0"/>
                  </a:lnTo>
                  <a:lnTo>
                    <a:pt x="6380540" y="25096"/>
                  </a:lnTo>
                  <a:lnTo>
                    <a:pt x="6380540" y="0"/>
                  </a:lnTo>
                  <a:cubicBezTo>
                    <a:pt x="6461828" y="0"/>
                    <a:pt x="6527728" y="279574"/>
                    <a:pt x="6527728" y="624399"/>
                  </a:cubicBezTo>
                  <a:lnTo>
                    <a:pt x="6521855" y="624399"/>
                  </a:lnTo>
                  <a:lnTo>
                    <a:pt x="6527728" y="624399"/>
                  </a:lnTo>
                  <a:lnTo>
                    <a:pt x="6527728" y="4662916"/>
                  </a:lnTo>
                  <a:lnTo>
                    <a:pt x="6521855" y="4662916"/>
                  </a:lnTo>
                  <a:lnTo>
                    <a:pt x="6527728" y="4662916"/>
                  </a:lnTo>
                  <a:cubicBezTo>
                    <a:pt x="6527728" y="5008243"/>
                    <a:pt x="6461710" y="5287315"/>
                    <a:pt x="6380540" y="5287315"/>
                  </a:cubicBezTo>
                  <a:lnTo>
                    <a:pt x="6380540" y="5262219"/>
                  </a:lnTo>
                  <a:lnTo>
                    <a:pt x="6380540" y="5287315"/>
                  </a:lnTo>
                  <a:lnTo>
                    <a:pt x="147188" y="5287315"/>
                  </a:lnTo>
                  <a:lnTo>
                    <a:pt x="147188" y="5262219"/>
                  </a:lnTo>
                  <a:lnTo>
                    <a:pt x="147188" y="5287315"/>
                  </a:lnTo>
                  <a:cubicBezTo>
                    <a:pt x="66017" y="5287315"/>
                    <a:pt x="0" y="5008243"/>
                    <a:pt x="0" y="4662916"/>
                  </a:cubicBezTo>
                  <a:lnTo>
                    <a:pt x="0" y="624399"/>
                  </a:lnTo>
                  <a:lnTo>
                    <a:pt x="5873" y="624399"/>
                  </a:lnTo>
                  <a:lnTo>
                    <a:pt x="0" y="624399"/>
                  </a:lnTo>
                  <a:moveTo>
                    <a:pt x="11747" y="624399"/>
                  </a:moveTo>
                  <a:lnTo>
                    <a:pt x="11747" y="4662916"/>
                  </a:lnTo>
                  <a:lnTo>
                    <a:pt x="5873" y="4662916"/>
                  </a:lnTo>
                  <a:lnTo>
                    <a:pt x="11747" y="4662916"/>
                  </a:lnTo>
                  <a:cubicBezTo>
                    <a:pt x="11747" y="4980135"/>
                    <a:pt x="72361" y="5237123"/>
                    <a:pt x="147188" y="5237123"/>
                  </a:cubicBezTo>
                  <a:lnTo>
                    <a:pt x="6380540" y="5237123"/>
                  </a:lnTo>
                  <a:cubicBezTo>
                    <a:pt x="6455367" y="5237123"/>
                    <a:pt x="6515981" y="4979633"/>
                    <a:pt x="6515981" y="4662916"/>
                  </a:cubicBezTo>
                  <a:lnTo>
                    <a:pt x="6515981" y="624399"/>
                  </a:lnTo>
                  <a:cubicBezTo>
                    <a:pt x="6515981" y="307682"/>
                    <a:pt x="6455367" y="50193"/>
                    <a:pt x="6380540" y="50193"/>
                  </a:cubicBezTo>
                  <a:lnTo>
                    <a:pt x="147188" y="50193"/>
                  </a:lnTo>
                  <a:lnTo>
                    <a:pt x="147188" y="25096"/>
                  </a:lnTo>
                  <a:lnTo>
                    <a:pt x="147188" y="50193"/>
                  </a:lnTo>
                  <a:cubicBezTo>
                    <a:pt x="72361" y="50193"/>
                    <a:pt x="11747" y="307682"/>
                    <a:pt x="11747" y="624399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25835" y="3638393"/>
            <a:ext cx="4819041" cy="3965626"/>
            <a:chOff x="0" y="0"/>
            <a:chExt cx="6425388" cy="5287501"/>
          </a:xfrm>
        </p:grpSpPr>
        <p:sp>
          <p:nvSpPr>
            <p:cNvPr id="13" name="Freeform 13"/>
            <p:cNvSpPr/>
            <p:nvPr/>
          </p:nvSpPr>
          <p:spPr>
            <a:xfrm>
              <a:off x="5781" y="25096"/>
              <a:ext cx="6413725" cy="5237123"/>
            </a:xfrm>
            <a:custGeom>
              <a:avLst/>
              <a:gdLst/>
              <a:ahLst/>
              <a:cxnLst/>
              <a:rect l="l" t="t" r="r" b="b"/>
              <a:pathLst>
                <a:path w="6413725" h="5237123">
                  <a:moveTo>
                    <a:pt x="0" y="599303"/>
                  </a:moveTo>
                  <a:cubicBezTo>
                    <a:pt x="0" y="268532"/>
                    <a:pt x="62321" y="0"/>
                    <a:pt x="139095" y="0"/>
                  </a:cubicBezTo>
                  <a:lnTo>
                    <a:pt x="6274630" y="0"/>
                  </a:lnTo>
                  <a:cubicBezTo>
                    <a:pt x="6351520" y="0"/>
                    <a:pt x="6413725" y="268532"/>
                    <a:pt x="6413725" y="599303"/>
                  </a:cubicBezTo>
                  <a:lnTo>
                    <a:pt x="6413725" y="4637820"/>
                  </a:lnTo>
                  <a:cubicBezTo>
                    <a:pt x="6413725" y="4969093"/>
                    <a:pt x="6351404" y="5237123"/>
                    <a:pt x="6274630" y="5237123"/>
                  </a:cubicBezTo>
                  <a:lnTo>
                    <a:pt x="139095" y="5237123"/>
                  </a:lnTo>
                  <a:cubicBezTo>
                    <a:pt x="62321" y="5237123"/>
                    <a:pt x="0" y="4969093"/>
                    <a:pt x="0" y="463782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425287" cy="5287315"/>
            </a:xfrm>
            <a:custGeom>
              <a:avLst/>
              <a:gdLst/>
              <a:ahLst/>
              <a:cxnLst/>
              <a:rect l="l" t="t" r="r" b="b"/>
              <a:pathLst>
                <a:path w="6425287" h="5287315">
                  <a:moveTo>
                    <a:pt x="0" y="624399"/>
                  </a:moveTo>
                  <a:cubicBezTo>
                    <a:pt x="0" y="279574"/>
                    <a:pt x="64980" y="0"/>
                    <a:pt x="144876" y="0"/>
                  </a:cubicBezTo>
                  <a:lnTo>
                    <a:pt x="6280411" y="0"/>
                  </a:lnTo>
                  <a:lnTo>
                    <a:pt x="6280411" y="25096"/>
                  </a:lnTo>
                  <a:lnTo>
                    <a:pt x="6280411" y="0"/>
                  </a:lnTo>
                  <a:cubicBezTo>
                    <a:pt x="6360422" y="0"/>
                    <a:pt x="6425287" y="279574"/>
                    <a:pt x="6425287" y="624399"/>
                  </a:cubicBezTo>
                  <a:lnTo>
                    <a:pt x="6419506" y="624399"/>
                  </a:lnTo>
                  <a:lnTo>
                    <a:pt x="6425287" y="624399"/>
                  </a:lnTo>
                  <a:lnTo>
                    <a:pt x="6425287" y="4662916"/>
                  </a:lnTo>
                  <a:lnTo>
                    <a:pt x="6419506" y="4662916"/>
                  </a:lnTo>
                  <a:lnTo>
                    <a:pt x="6425287" y="4662916"/>
                  </a:lnTo>
                  <a:cubicBezTo>
                    <a:pt x="6425287" y="5008243"/>
                    <a:pt x="6360306" y="5287315"/>
                    <a:pt x="6280411" y="5287315"/>
                  </a:cubicBezTo>
                  <a:lnTo>
                    <a:pt x="6280411" y="5262219"/>
                  </a:lnTo>
                  <a:lnTo>
                    <a:pt x="6280411" y="5287315"/>
                  </a:lnTo>
                  <a:lnTo>
                    <a:pt x="144876" y="5287315"/>
                  </a:lnTo>
                  <a:lnTo>
                    <a:pt x="144876" y="5262219"/>
                  </a:lnTo>
                  <a:lnTo>
                    <a:pt x="144876" y="5287315"/>
                  </a:lnTo>
                  <a:cubicBezTo>
                    <a:pt x="64980" y="5287315"/>
                    <a:pt x="0" y="5008243"/>
                    <a:pt x="0" y="4662916"/>
                  </a:cubicBezTo>
                  <a:lnTo>
                    <a:pt x="0" y="624399"/>
                  </a:lnTo>
                  <a:lnTo>
                    <a:pt x="5781" y="624399"/>
                  </a:lnTo>
                  <a:lnTo>
                    <a:pt x="0" y="624399"/>
                  </a:lnTo>
                  <a:moveTo>
                    <a:pt x="11562" y="624399"/>
                  </a:moveTo>
                  <a:lnTo>
                    <a:pt x="11562" y="4662916"/>
                  </a:lnTo>
                  <a:lnTo>
                    <a:pt x="5781" y="4662916"/>
                  </a:lnTo>
                  <a:lnTo>
                    <a:pt x="11562" y="4662916"/>
                  </a:lnTo>
                  <a:cubicBezTo>
                    <a:pt x="11562" y="4980135"/>
                    <a:pt x="71224" y="5237123"/>
                    <a:pt x="144876" y="5237123"/>
                  </a:cubicBezTo>
                  <a:lnTo>
                    <a:pt x="6280411" y="5237123"/>
                  </a:lnTo>
                  <a:cubicBezTo>
                    <a:pt x="6354063" y="5237123"/>
                    <a:pt x="6413725" y="4979633"/>
                    <a:pt x="6413725" y="4662916"/>
                  </a:cubicBezTo>
                  <a:lnTo>
                    <a:pt x="6413725" y="624399"/>
                  </a:lnTo>
                  <a:cubicBezTo>
                    <a:pt x="6413840" y="307682"/>
                    <a:pt x="6354179" y="50193"/>
                    <a:pt x="6280411" y="50193"/>
                  </a:cubicBezTo>
                  <a:lnTo>
                    <a:pt x="144876" y="50193"/>
                  </a:lnTo>
                  <a:lnTo>
                    <a:pt x="144876" y="25096"/>
                  </a:lnTo>
                  <a:lnTo>
                    <a:pt x="144876" y="50193"/>
                  </a:lnTo>
                  <a:cubicBezTo>
                    <a:pt x="71224" y="50193"/>
                    <a:pt x="11562" y="307682"/>
                    <a:pt x="11562" y="624399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5" name="Freeform 15"/>
          <p:cNvSpPr/>
          <p:nvPr/>
        </p:nvSpPr>
        <p:spPr>
          <a:xfrm>
            <a:off x="947886" y="2067994"/>
            <a:ext cx="676027" cy="671111"/>
          </a:xfrm>
          <a:custGeom>
            <a:avLst/>
            <a:gdLst/>
            <a:ahLst/>
            <a:cxnLst/>
            <a:rect l="l" t="t" r="r" b="b"/>
            <a:pathLst>
              <a:path w="676027" h="671111">
                <a:moveTo>
                  <a:pt x="0" y="0"/>
                </a:moveTo>
                <a:lnTo>
                  <a:pt x="676027" y="0"/>
                </a:lnTo>
                <a:lnTo>
                  <a:pt x="676027" y="671111"/>
                </a:lnTo>
                <a:lnTo>
                  <a:pt x="0" y="67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947886" y="981075"/>
            <a:ext cx="8777734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We Developed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2232" y="2168599"/>
            <a:ext cx="449857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8 Custom R Functions: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65508" y="4024766"/>
            <a:ext cx="4498575" cy="36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Additional model fitters: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5135" y="5621849"/>
            <a:ext cx="418214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bplfit</a:t>
            </a: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: estimate power-law parameters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5135" y="4602674"/>
            <a:ext cx="449857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getPDF</a:t>
            </a: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: compute probability density values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29574" y="4602674"/>
            <a:ext cx="449857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bplpva</a:t>
            </a:r>
            <a:r>
              <a:rPr lang="en-US" sz="212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: perform gof test for power-law model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86913" y="5663467"/>
            <a:ext cx="380505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blrtest</a:t>
            </a: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: compare different models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13352" y="6021899"/>
            <a:ext cx="472306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788" lvl="1" indent="-229394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bexpnfit</a:t>
            </a:r>
            <a:r>
              <a:rPr lang="en-US" sz="212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: Exponential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13502" y="6536249"/>
            <a:ext cx="472306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788" lvl="1" indent="-229394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blgnormfit</a:t>
            </a:r>
            <a:r>
              <a:rPr lang="en-US" sz="212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: Log-normal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13352" y="5050349"/>
            <a:ext cx="472321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788" lvl="1" indent="-229394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bstexpfit</a:t>
            </a:r>
            <a:r>
              <a:rPr lang="en-US" sz="212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: Stretched Exponential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13352" y="4559811"/>
            <a:ext cx="454594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788" lvl="1" indent="-229394" algn="l">
              <a:lnSpc>
                <a:spcPts val="3374"/>
              </a:lnSpc>
              <a:buFont typeface="Arial"/>
              <a:buChar char="•"/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bplcutfit</a:t>
            </a:r>
            <a:r>
              <a:rPr lang="en-US" sz="2125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: Power-law + Cutoff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5135" y="4024766"/>
            <a:ext cx="4498575" cy="36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Core Tools: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86913" y="4024766"/>
            <a:ext cx="4498575" cy="36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Statistical Tests: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1737966" cy="10287000"/>
            <a:chOff x="0" y="0"/>
            <a:chExt cx="1565062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50621" cy="13716000"/>
            </a:xfrm>
            <a:custGeom>
              <a:avLst/>
              <a:gdLst/>
              <a:ahLst/>
              <a:cxnLst/>
              <a:rect l="l" t="t" r="r" b="b"/>
              <a:pathLst>
                <a:path w="15650621" h="13716000">
                  <a:moveTo>
                    <a:pt x="0" y="0"/>
                  </a:moveTo>
                  <a:lnTo>
                    <a:pt x="15650621" y="0"/>
                  </a:lnTo>
                  <a:lnTo>
                    <a:pt x="1565062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366808"/>
            <a:ext cx="11737966" cy="10287000"/>
            <a:chOff x="0" y="0"/>
            <a:chExt cx="15650621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50621" cy="13716000"/>
            </a:xfrm>
            <a:custGeom>
              <a:avLst/>
              <a:gdLst/>
              <a:ahLst/>
              <a:cxnLst/>
              <a:rect l="l" t="t" r="r" b="b"/>
              <a:pathLst>
                <a:path w="15650621" h="13716000">
                  <a:moveTo>
                    <a:pt x="0" y="0"/>
                  </a:moveTo>
                  <a:lnTo>
                    <a:pt x="15650621" y="0"/>
                  </a:lnTo>
                  <a:lnTo>
                    <a:pt x="1565062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12836555" y="-25795"/>
            <a:ext cx="4444479" cy="2516259"/>
          </a:xfrm>
          <a:custGeom>
            <a:avLst/>
            <a:gdLst/>
            <a:ahLst/>
            <a:cxnLst/>
            <a:rect l="l" t="t" r="r" b="b"/>
            <a:pathLst>
              <a:path w="4444479" h="2516259">
                <a:moveTo>
                  <a:pt x="0" y="0"/>
                </a:moveTo>
                <a:lnTo>
                  <a:pt x="4444479" y="0"/>
                </a:lnTo>
                <a:lnTo>
                  <a:pt x="4444479" y="2516259"/>
                </a:lnTo>
                <a:lnTo>
                  <a:pt x="0" y="2516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702667" y="2588068"/>
            <a:ext cx="4779301" cy="2481364"/>
          </a:xfrm>
          <a:custGeom>
            <a:avLst/>
            <a:gdLst/>
            <a:ahLst/>
            <a:cxnLst/>
            <a:rect l="l" t="t" r="r" b="b"/>
            <a:pathLst>
              <a:path w="4779301" h="2481364">
                <a:moveTo>
                  <a:pt x="0" y="0"/>
                </a:moveTo>
                <a:lnTo>
                  <a:pt x="4779301" y="0"/>
                </a:lnTo>
                <a:lnTo>
                  <a:pt x="4779301" y="2481364"/>
                </a:lnTo>
                <a:lnTo>
                  <a:pt x="0" y="2481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7" r="-675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2793087" y="5069432"/>
            <a:ext cx="4466213" cy="2528564"/>
          </a:xfrm>
          <a:custGeom>
            <a:avLst/>
            <a:gdLst/>
            <a:ahLst/>
            <a:cxnLst/>
            <a:rect l="l" t="t" r="r" b="b"/>
            <a:pathLst>
              <a:path w="4466213" h="2528564">
                <a:moveTo>
                  <a:pt x="0" y="0"/>
                </a:moveTo>
                <a:lnTo>
                  <a:pt x="4466213" y="0"/>
                </a:lnTo>
                <a:lnTo>
                  <a:pt x="4466213" y="2528564"/>
                </a:lnTo>
                <a:lnTo>
                  <a:pt x="0" y="2528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2793087" y="7746132"/>
            <a:ext cx="4487947" cy="2540868"/>
          </a:xfrm>
          <a:custGeom>
            <a:avLst/>
            <a:gdLst/>
            <a:ahLst/>
            <a:cxnLst/>
            <a:rect l="l" t="t" r="r" b="b"/>
            <a:pathLst>
              <a:path w="4487947" h="2540868">
                <a:moveTo>
                  <a:pt x="0" y="0"/>
                </a:moveTo>
                <a:lnTo>
                  <a:pt x="4487947" y="0"/>
                </a:lnTo>
                <a:lnTo>
                  <a:pt x="4487947" y="2540868"/>
                </a:lnTo>
                <a:lnTo>
                  <a:pt x="0" y="2540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>
            <a:off x="209919" y="375642"/>
            <a:ext cx="11116881" cy="77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Main functions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6234" y="1643191"/>
            <a:ext cx="5558441" cy="37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Estimating PL parametes (bplfit)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444" y="2231590"/>
            <a:ext cx="10824356" cy="632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it does: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Estimates the power-law exponent </a:t>
            </a:r>
            <a:r>
              <a:rPr lang="en-US" sz="17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α</a:t>
            </a: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and the lower bound</a:t>
            </a:r>
            <a:r>
              <a:rPr lang="en-US" sz="17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bₘᵢₙ</a:t>
            </a: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from binned data throw Maximun Likelihood Estimation (MLE) and Kolmogorov-Smirnov (KS) statistic respectively.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it works:</a:t>
            </a:r>
          </a:p>
          <a:p>
            <a:pPr marL="367031" lvl="1" indent="-183515" algn="just">
              <a:lnSpc>
                <a:spcPts val="2730"/>
              </a:lnSpc>
              <a:buAutoNum type="arabicPeriod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For each candidate</a:t>
            </a:r>
            <a:r>
              <a:rPr lang="en-US" sz="17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bₘᵢₙ:</a:t>
            </a:r>
          </a:p>
          <a:p>
            <a:pPr marL="734061" lvl="2" indent="-244687" algn="just">
              <a:lnSpc>
                <a:spcPts val="2730"/>
              </a:lnSpc>
              <a:buFont typeface="Arial"/>
              <a:buChar char="⚬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Estimates </a:t>
            </a:r>
            <a:r>
              <a:rPr lang="en-US" sz="17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α </a:t>
            </a: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via MLE on data ≥</a:t>
            </a:r>
            <a:r>
              <a:rPr lang="en-US" sz="17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bₘᵢₙ</a:t>
            </a:r>
          </a:p>
          <a:p>
            <a:pPr marL="734061" lvl="2" indent="-244687" algn="just">
              <a:lnSpc>
                <a:spcPts val="2730"/>
              </a:lnSpc>
              <a:buFont typeface="Arial"/>
              <a:buChar char="⚬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Computes the empirical and theoretical CCDFs</a:t>
            </a:r>
          </a:p>
          <a:p>
            <a:pPr marL="734061" lvl="2" indent="-244687" algn="just">
              <a:lnSpc>
                <a:spcPts val="2730"/>
              </a:lnSpc>
              <a:buFont typeface="Arial"/>
              <a:buChar char="⚬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Calculates KS statistics between them</a:t>
            </a:r>
          </a:p>
          <a:p>
            <a:pPr marL="367031" lvl="1" indent="-183515" algn="just">
              <a:lnSpc>
                <a:spcPts val="2730"/>
              </a:lnSpc>
              <a:buAutoNum type="arabicPeriod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Selects the </a:t>
            </a:r>
            <a:r>
              <a:rPr lang="en-US" sz="1700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bₘᵢₙ</a:t>
            </a: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that minimizes KS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we tested it: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1: Base case → α = 2.512 (err 0.012), bₘᵢₙ = 10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2: Different α values → Errors &lt; 0.05 for all tested α  ∈ [1.5, 3.5], average error:0.138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3: Binning schema → Fine - Coarse - Linear →  Linear binning slightly overestimates α 📉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4: Sample size effect → Error drops from 0.083 (N=1k) to 0.002 (N=50k)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Test 5: Robustness to noise → No degradation: α = 2.500, bmin = 10 ✅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484844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11121507" y="3760364"/>
            <a:ext cx="6687796" cy="3786964"/>
          </a:xfrm>
          <a:custGeom>
            <a:avLst/>
            <a:gdLst/>
            <a:ahLst/>
            <a:cxnLst/>
            <a:rect l="l" t="t" r="r" b="b"/>
            <a:pathLst>
              <a:path w="6687796" h="3786964">
                <a:moveTo>
                  <a:pt x="0" y="0"/>
                </a:moveTo>
                <a:lnTo>
                  <a:pt x="6687796" y="0"/>
                </a:lnTo>
                <a:lnTo>
                  <a:pt x="6687796" y="3786965"/>
                </a:lnTo>
                <a:lnTo>
                  <a:pt x="0" y="3786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09919" y="375642"/>
            <a:ext cx="11116881" cy="77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Main functions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2443" y="1669150"/>
            <a:ext cx="7085828" cy="37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Theoretical PDF over Binned Data (getPDF)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111" y="2281590"/>
            <a:ext cx="9379755" cy="6667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it does: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Computes the theoretical PDF over user-defined bins, supports 5 models: P</a:t>
            </a: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ower-law, Exponential, Log-normal, Stretched Exp, Power-law+Cutoff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it works:</a:t>
            </a:r>
          </a:p>
          <a:p>
            <a:pPr marL="367031" lvl="1" indent="-183515" algn="just">
              <a:lnSpc>
                <a:spcPts val="2730"/>
              </a:lnSpc>
              <a:buAutoNum type="arabicPeriod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For each bin [li,ui) ≥ bmin:</a:t>
            </a:r>
          </a:p>
          <a:p>
            <a:pPr marL="734061" lvl="2" indent="-244687" algn="just">
              <a:lnSpc>
                <a:spcPts val="2730"/>
              </a:lnSpc>
              <a:buFont typeface="Arial"/>
              <a:buChar char="⚬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Computes the theoretical probability as the difference of CDF values</a:t>
            </a:r>
          </a:p>
          <a:p>
            <a:pPr marL="734061" lvl="2" indent="-244687" algn="just">
              <a:lnSpc>
                <a:spcPts val="2730"/>
              </a:lnSpc>
              <a:buFont typeface="Arial"/>
              <a:buChar char="⚬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Normalizes to ensure ∑pᵢ = 1</a:t>
            </a:r>
          </a:p>
          <a:p>
            <a:pPr marL="367031" lvl="1" indent="-183515" algn="just">
              <a:lnSpc>
                <a:spcPts val="2730"/>
              </a:lnSpc>
              <a:buAutoNum type="arabicPeriod"/>
            </a:pPr>
            <a:r>
              <a:rPr lang="en-US" sz="170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Handles edge cases (empty bins, extreme parameters)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we tested it: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1: Power-law  → Matches exact formula, sum = 1.0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2: Exponential → Handles small and large λ, sum = 1.0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3: Log-normal → Stable even with skewed or narrow shape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4: Stretched Exp → Robust to shape/scale parameters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5: Power-law + Cutoff → Correct trapezoidal approximation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6: Edge cases → Small &amp; wide bins: handled without NaN or negative probs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7: bmin consistency → Changing bmin trims bins, preserves normalization ✅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13816510" y="1389602"/>
            <a:ext cx="468203" cy="637733"/>
          </a:xfrm>
          <a:custGeom>
            <a:avLst/>
            <a:gdLst/>
            <a:ahLst/>
            <a:cxnLst/>
            <a:rect l="l" t="t" r="r" b="b"/>
            <a:pathLst>
              <a:path w="468203" h="637733">
                <a:moveTo>
                  <a:pt x="0" y="0"/>
                </a:moveTo>
                <a:lnTo>
                  <a:pt x="468203" y="0"/>
                </a:lnTo>
                <a:lnTo>
                  <a:pt x="468203" y="637733"/>
                </a:lnTo>
                <a:lnTo>
                  <a:pt x="0" y="637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5268415" y="1473038"/>
            <a:ext cx="792470" cy="442792"/>
          </a:xfrm>
          <a:custGeom>
            <a:avLst/>
            <a:gdLst/>
            <a:ahLst/>
            <a:cxnLst/>
            <a:rect l="l" t="t" r="r" b="b"/>
            <a:pathLst>
              <a:path w="792470" h="442792">
                <a:moveTo>
                  <a:pt x="0" y="0"/>
                </a:moveTo>
                <a:lnTo>
                  <a:pt x="792469" y="0"/>
                </a:lnTo>
                <a:lnTo>
                  <a:pt x="792469" y="442792"/>
                </a:lnTo>
                <a:lnTo>
                  <a:pt x="0" y="442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502444" y="375642"/>
            <a:ext cx="11116881" cy="77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Statistical Tests - Does it Fit?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444" y="1461967"/>
            <a:ext cx="6576155" cy="37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Testing Power Laws (bplpva)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1461967"/>
            <a:ext cx="5561660" cy="37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399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Compare Models (blrtest)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444" y="2081589"/>
            <a:ext cx="8328702" cy="735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it does: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Tests whether a power-law distribution is a good fit for binned data using a Kolmogorov-Smirnov (KS) test with semi-parametric bootstrap.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it works: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Computes the KS distance between the observed data and the fitted power-law model.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Generates 1000 synthetic datasets from the estimated power-law. 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Compares the observed KS distance with the ones from the synthetic datasets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The p-value is the fraction of synthetic KS distances that are worse than the observed one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algn="just">
              <a:lnSpc>
                <a:spcPts val="3051"/>
              </a:lnSpc>
            </a:pPr>
            <a:r>
              <a:rPr lang="en-US" sz="1899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we tested it: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1: Data from a true power law (α = 2.5) → Expected high p-values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Result: Average p-value = 0.452, 90% accepted (p ≥ 0.1)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2: Data from a log-normal distribution → Expected low p-values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Result: Average p-value = 0.000, 100% rejected ✅</a:t>
            </a:r>
          </a:p>
          <a:p>
            <a:pPr marL="367031" lvl="1" indent="-183515" algn="just">
              <a:lnSpc>
                <a:spcPts val="273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Uniformity check: p-values from power-law data tested with </a:t>
            </a:r>
          </a:p>
          <a:p>
            <a:pPr algn="just">
              <a:lnSpc>
                <a:spcPts val="2730"/>
              </a:lnSpc>
            </a:pPr>
            <a:r>
              <a:rPr lang="en-US" sz="1700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      KS test → p = 0.846 ✅</a:t>
            </a:r>
          </a:p>
          <a:p>
            <a:pPr algn="just">
              <a:lnSpc>
                <a:spcPts val="2890"/>
              </a:lnSpc>
            </a:pPr>
            <a:endParaRPr lang="en-US" sz="1700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0" y="2081589"/>
            <a:ext cx="8840076" cy="7383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8"/>
              </a:lnSpc>
            </a:pPr>
            <a:r>
              <a:rPr lang="en-US" sz="1904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it does: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Compares two models (e.g., power law vs log-normal) using the Vuong test to see which one fits the binned data better.</a:t>
            </a:r>
          </a:p>
          <a:p>
            <a:pPr algn="just">
              <a:lnSpc>
                <a:spcPts val="2736"/>
              </a:lnSpc>
            </a:pPr>
            <a:endParaRPr lang="en-US" sz="1704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algn="just">
              <a:lnSpc>
                <a:spcPts val="3058"/>
              </a:lnSpc>
            </a:pPr>
            <a:r>
              <a:rPr lang="en-US" sz="1904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it works: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Calculates the log-likelihood ratio R for each bin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Normalizes R using its standard deviation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If the norm of normR is greater than a critical threshold → one model is significantly better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If normR &gt; 0, the first model is favored; if normR &lt; 0, the second model is favored</a:t>
            </a:r>
          </a:p>
          <a:p>
            <a:pPr algn="just">
              <a:lnSpc>
                <a:spcPts val="2736"/>
              </a:lnSpc>
            </a:pPr>
            <a:endParaRPr lang="en-US" sz="1704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algn="just">
              <a:lnSpc>
                <a:spcPts val="3058"/>
              </a:lnSpc>
            </a:pPr>
            <a:r>
              <a:rPr lang="en-US" sz="1904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we tested it: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1: Power law vs log-normal on power-law data → Expected: power law is better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Result: normR = 5.283, p &lt; 0.001 (power law wins) ✅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2: Power law vs log-normal on log-normal data → Expected: log-normal is better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Result: normR = -156.9, p &lt; 0.001 (log-normal wins) ✅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Test 3: Power law vs exponential → Power law always wins on power-law data ✅</a:t>
            </a:r>
          </a:p>
          <a:p>
            <a:pPr marL="367941" lvl="1" indent="-183970" algn="just">
              <a:lnSpc>
                <a:spcPts val="2736"/>
              </a:lnSpc>
              <a:buFont typeface="Arial"/>
              <a:buChar char="•"/>
            </a:pPr>
            <a:r>
              <a:rPr lang="en-US" sz="1704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Robustness test: Showed that at least N &gt; 5000 is needed for reliable results ✅</a:t>
            </a:r>
          </a:p>
          <a:p>
            <a:pPr algn="just">
              <a:lnSpc>
                <a:spcPts val="3320"/>
              </a:lnSpc>
              <a:spcBef>
                <a:spcPct val="0"/>
              </a:spcBef>
            </a:pPr>
            <a:endParaRPr lang="en-US" sz="1704">
              <a:solidFill>
                <a:srgbClr val="000000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53937"/>
            <a:chOff x="0" y="0"/>
            <a:chExt cx="23957017" cy="1904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57017" cy="1904636"/>
            </a:xfrm>
            <a:custGeom>
              <a:avLst/>
              <a:gdLst/>
              <a:ahLst/>
              <a:cxnLst/>
              <a:rect l="l" t="t" r="r" b="b"/>
              <a:pathLst>
                <a:path w="23957017" h="1904636">
                  <a:moveTo>
                    <a:pt x="0" y="0"/>
                  </a:moveTo>
                  <a:lnTo>
                    <a:pt x="23957017" y="0"/>
                  </a:lnTo>
                  <a:lnTo>
                    <a:pt x="23957017" y="1904636"/>
                  </a:lnTo>
                  <a:lnTo>
                    <a:pt x="0" y="1904636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40950" y="4666419"/>
            <a:ext cx="604540" cy="604540"/>
            <a:chOff x="0" y="0"/>
            <a:chExt cx="806053" cy="806053"/>
          </a:xfrm>
        </p:grpSpPr>
        <p:sp>
          <p:nvSpPr>
            <p:cNvPr id="5" name="Freeform 5"/>
            <p:cNvSpPr/>
            <p:nvPr/>
          </p:nvSpPr>
          <p:spPr>
            <a:xfrm>
              <a:off x="6350" y="6350"/>
              <a:ext cx="793369" cy="793369"/>
            </a:xfrm>
            <a:custGeom>
              <a:avLst/>
              <a:gdLst/>
              <a:ahLst/>
              <a:cxnLst/>
              <a:rect l="l" t="t" r="r" b="b"/>
              <a:pathLst>
                <a:path w="793369" h="79336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45287" y="0"/>
                  </a:lnTo>
                  <a:cubicBezTo>
                    <a:pt x="727075" y="0"/>
                    <a:pt x="793369" y="66294"/>
                    <a:pt x="793369" y="148082"/>
                  </a:cubicBezTo>
                  <a:lnTo>
                    <a:pt x="793369" y="645287"/>
                  </a:lnTo>
                  <a:cubicBezTo>
                    <a:pt x="793369" y="727075"/>
                    <a:pt x="727075" y="793369"/>
                    <a:pt x="645287" y="793369"/>
                  </a:cubicBezTo>
                  <a:lnTo>
                    <a:pt x="148082" y="793369"/>
                  </a:lnTo>
                  <a:cubicBezTo>
                    <a:pt x="66294" y="793369"/>
                    <a:pt x="0" y="727075"/>
                    <a:pt x="0" y="645287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651637" y="0"/>
                  </a:lnTo>
                  <a:lnTo>
                    <a:pt x="651637" y="6350"/>
                  </a:lnTo>
                  <a:lnTo>
                    <a:pt x="651637" y="0"/>
                  </a:lnTo>
                  <a:cubicBezTo>
                    <a:pt x="736981" y="0"/>
                    <a:pt x="806069" y="69088"/>
                    <a:pt x="806069" y="154432"/>
                  </a:cubicBezTo>
                  <a:lnTo>
                    <a:pt x="799719" y="154432"/>
                  </a:lnTo>
                  <a:lnTo>
                    <a:pt x="806069" y="154432"/>
                  </a:lnTo>
                  <a:lnTo>
                    <a:pt x="806069" y="651637"/>
                  </a:lnTo>
                  <a:lnTo>
                    <a:pt x="799719" y="651637"/>
                  </a:lnTo>
                  <a:lnTo>
                    <a:pt x="806069" y="651637"/>
                  </a:lnTo>
                  <a:cubicBezTo>
                    <a:pt x="806069" y="736981"/>
                    <a:pt x="736981" y="806069"/>
                    <a:pt x="651637" y="806069"/>
                  </a:cubicBezTo>
                  <a:lnTo>
                    <a:pt x="651637" y="799719"/>
                  </a:lnTo>
                  <a:lnTo>
                    <a:pt x="651637" y="806069"/>
                  </a:lnTo>
                  <a:lnTo>
                    <a:pt x="154432" y="806069"/>
                  </a:lnTo>
                  <a:lnTo>
                    <a:pt x="154432" y="799719"/>
                  </a:lnTo>
                  <a:lnTo>
                    <a:pt x="154432" y="806069"/>
                  </a:lnTo>
                  <a:cubicBezTo>
                    <a:pt x="69088" y="806069"/>
                    <a:pt x="0" y="736854"/>
                    <a:pt x="0" y="651637"/>
                  </a:cubicBezTo>
                  <a:lnTo>
                    <a:pt x="0" y="154432"/>
                  </a:lnTo>
                  <a:lnTo>
                    <a:pt x="6350" y="154432"/>
                  </a:lnTo>
                  <a:lnTo>
                    <a:pt x="0" y="154432"/>
                  </a:lnTo>
                  <a:moveTo>
                    <a:pt x="12700" y="154432"/>
                  </a:moveTo>
                  <a:lnTo>
                    <a:pt x="12700" y="651637"/>
                  </a:lnTo>
                  <a:lnTo>
                    <a:pt x="6350" y="651637"/>
                  </a:lnTo>
                  <a:lnTo>
                    <a:pt x="12700" y="651637"/>
                  </a:lnTo>
                  <a:cubicBezTo>
                    <a:pt x="12700" y="729869"/>
                    <a:pt x="76200" y="793369"/>
                    <a:pt x="154432" y="793369"/>
                  </a:cubicBezTo>
                  <a:lnTo>
                    <a:pt x="651637" y="793369"/>
                  </a:lnTo>
                  <a:cubicBezTo>
                    <a:pt x="729869" y="793369"/>
                    <a:pt x="793369" y="729869"/>
                    <a:pt x="793369" y="651637"/>
                  </a:cubicBezTo>
                  <a:lnTo>
                    <a:pt x="793369" y="154432"/>
                  </a:lnTo>
                  <a:cubicBezTo>
                    <a:pt x="793369" y="76200"/>
                    <a:pt x="729869" y="12700"/>
                    <a:pt x="651637" y="12700"/>
                  </a:cubicBezTo>
                  <a:lnTo>
                    <a:pt x="154432" y="12700"/>
                  </a:lnTo>
                  <a:lnTo>
                    <a:pt x="154432" y="6350"/>
                  </a:lnTo>
                  <a:lnTo>
                    <a:pt x="154432" y="12700"/>
                  </a:lnTo>
                  <a:cubicBezTo>
                    <a:pt x="76200" y="12700"/>
                    <a:pt x="12700" y="76200"/>
                    <a:pt x="12700" y="154432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05046" y="4752443"/>
            <a:ext cx="217273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Exponential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40950" y="3446388"/>
            <a:ext cx="604540" cy="604540"/>
            <a:chOff x="0" y="0"/>
            <a:chExt cx="806053" cy="806053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793369" cy="793369"/>
            </a:xfrm>
            <a:custGeom>
              <a:avLst/>
              <a:gdLst/>
              <a:ahLst/>
              <a:cxnLst/>
              <a:rect l="l" t="t" r="r" b="b"/>
              <a:pathLst>
                <a:path w="793369" h="79336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45287" y="0"/>
                  </a:lnTo>
                  <a:cubicBezTo>
                    <a:pt x="727075" y="0"/>
                    <a:pt x="793369" y="66294"/>
                    <a:pt x="793369" y="148082"/>
                  </a:cubicBezTo>
                  <a:lnTo>
                    <a:pt x="793369" y="645287"/>
                  </a:lnTo>
                  <a:cubicBezTo>
                    <a:pt x="793369" y="727075"/>
                    <a:pt x="727075" y="793369"/>
                    <a:pt x="645287" y="793369"/>
                  </a:cubicBezTo>
                  <a:lnTo>
                    <a:pt x="148082" y="793369"/>
                  </a:lnTo>
                  <a:cubicBezTo>
                    <a:pt x="66294" y="793369"/>
                    <a:pt x="0" y="727075"/>
                    <a:pt x="0" y="645287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651637" y="0"/>
                  </a:lnTo>
                  <a:lnTo>
                    <a:pt x="651637" y="6350"/>
                  </a:lnTo>
                  <a:lnTo>
                    <a:pt x="651637" y="0"/>
                  </a:lnTo>
                  <a:cubicBezTo>
                    <a:pt x="736981" y="0"/>
                    <a:pt x="806069" y="69088"/>
                    <a:pt x="806069" y="154432"/>
                  </a:cubicBezTo>
                  <a:lnTo>
                    <a:pt x="799719" y="154432"/>
                  </a:lnTo>
                  <a:lnTo>
                    <a:pt x="806069" y="154432"/>
                  </a:lnTo>
                  <a:lnTo>
                    <a:pt x="806069" y="651637"/>
                  </a:lnTo>
                  <a:lnTo>
                    <a:pt x="799719" y="651637"/>
                  </a:lnTo>
                  <a:lnTo>
                    <a:pt x="806069" y="651637"/>
                  </a:lnTo>
                  <a:cubicBezTo>
                    <a:pt x="806069" y="736981"/>
                    <a:pt x="736981" y="806069"/>
                    <a:pt x="651637" y="806069"/>
                  </a:cubicBezTo>
                  <a:lnTo>
                    <a:pt x="651637" y="799719"/>
                  </a:lnTo>
                  <a:lnTo>
                    <a:pt x="651637" y="806069"/>
                  </a:lnTo>
                  <a:lnTo>
                    <a:pt x="154432" y="806069"/>
                  </a:lnTo>
                  <a:lnTo>
                    <a:pt x="154432" y="799719"/>
                  </a:lnTo>
                  <a:lnTo>
                    <a:pt x="154432" y="806069"/>
                  </a:lnTo>
                  <a:cubicBezTo>
                    <a:pt x="69088" y="806069"/>
                    <a:pt x="0" y="736854"/>
                    <a:pt x="0" y="651637"/>
                  </a:cubicBezTo>
                  <a:lnTo>
                    <a:pt x="0" y="154432"/>
                  </a:lnTo>
                  <a:lnTo>
                    <a:pt x="6350" y="154432"/>
                  </a:lnTo>
                  <a:lnTo>
                    <a:pt x="0" y="154432"/>
                  </a:lnTo>
                  <a:moveTo>
                    <a:pt x="12700" y="154432"/>
                  </a:moveTo>
                  <a:lnTo>
                    <a:pt x="12700" y="651637"/>
                  </a:lnTo>
                  <a:lnTo>
                    <a:pt x="6350" y="651637"/>
                  </a:lnTo>
                  <a:lnTo>
                    <a:pt x="12700" y="651637"/>
                  </a:lnTo>
                  <a:cubicBezTo>
                    <a:pt x="12700" y="729869"/>
                    <a:pt x="76200" y="793369"/>
                    <a:pt x="154432" y="793369"/>
                  </a:cubicBezTo>
                  <a:lnTo>
                    <a:pt x="651637" y="793369"/>
                  </a:lnTo>
                  <a:cubicBezTo>
                    <a:pt x="729869" y="793369"/>
                    <a:pt x="793369" y="729869"/>
                    <a:pt x="793369" y="651637"/>
                  </a:cubicBezTo>
                  <a:lnTo>
                    <a:pt x="793369" y="154432"/>
                  </a:lnTo>
                  <a:cubicBezTo>
                    <a:pt x="793369" y="76200"/>
                    <a:pt x="729869" y="12700"/>
                    <a:pt x="651637" y="12700"/>
                  </a:cubicBezTo>
                  <a:lnTo>
                    <a:pt x="154432" y="12700"/>
                  </a:lnTo>
                  <a:lnTo>
                    <a:pt x="154432" y="6350"/>
                  </a:lnTo>
                  <a:lnTo>
                    <a:pt x="154432" y="12700"/>
                  </a:lnTo>
                  <a:cubicBezTo>
                    <a:pt x="76200" y="12700"/>
                    <a:pt x="12700" y="76200"/>
                    <a:pt x="12700" y="154432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05046" y="3532411"/>
            <a:ext cx="222454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Log-normal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18813" y="3494005"/>
            <a:ext cx="604540" cy="604540"/>
            <a:chOff x="0" y="0"/>
            <a:chExt cx="806053" cy="806053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793369" cy="793369"/>
            </a:xfrm>
            <a:custGeom>
              <a:avLst/>
              <a:gdLst/>
              <a:ahLst/>
              <a:cxnLst/>
              <a:rect l="l" t="t" r="r" b="b"/>
              <a:pathLst>
                <a:path w="793369" h="79336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45287" y="0"/>
                  </a:lnTo>
                  <a:cubicBezTo>
                    <a:pt x="727075" y="0"/>
                    <a:pt x="793369" y="66294"/>
                    <a:pt x="793369" y="148082"/>
                  </a:cubicBezTo>
                  <a:lnTo>
                    <a:pt x="793369" y="645287"/>
                  </a:lnTo>
                  <a:cubicBezTo>
                    <a:pt x="793369" y="727075"/>
                    <a:pt x="727075" y="793369"/>
                    <a:pt x="645287" y="793369"/>
                  </a:cubicBezTo>
                  <a:lnTo>
                    <a:pt x="148082" y="793369"/>
                  </a:lnTo>
                  <a:cubicBezTo>
                    <a:pt x="66294" y="793369"/>
                    <a:pt x="0" y="727075"/>
                    <a:pt x="0" y="645287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651637" y="0"/>
                  </a:lnTo>
                  <a:lnTo>
                    <a:pt x="651637" y="6350"/>
                  </a:lnTo>
                  <a:lnTo>
                    <a:pt x="651637" y="0"/>
                  </a:lnTo>
                  <a:cubicBezTo>
                    <a:pt x="736981" y="0"/>
                    <a:pt x="806069" y="69088"/>
                    <a:pt x="806069" y="154432"/>
                  </a:cubicBezTo>
                  <a:lnTo>
                    <a:pt x="799719" y="154432"/>
                  </a:lnTo>
                  <a:lnTo>
                    <a:pt x="806069" y="154432"/>
                  </a:lnTo>
                  <a:lnTo>
                    <a:pt x="806069" y="651637"/>
                  </a:lnTo>
                  <a:lnTo>
                    <a:pt x="799719" y="651637"/>
                  </a:lnTo>
                  <a:lnTo>
                    <a:pt x="806069" y="651637"/>
                  </a:lnTo>
                  <a:cubicBezTo>
                    <a:pt x="806069" y="736981"/>
                    <a:pt x="736981" y="806069"/>
                    <a:pt x="651637" y="806069"/>
                  </a:cubicBezTo>
                  <a:lnTo>
                    <a:pt x="651637" y="799719"/>
                  </a:lnTo>
                  <a:lnTo>
                    <a:pt x="651637" y="806069"/>
                  </a:lnTo>
                  <a:lnTo>
                    <a:pt x="154432" y="806069"/>
                  </a:lnTo>
                  <a:lnTo>
                    <a:pt x="154432" y="799719"/>
                  </a:lnTo>
                  <a:lnTo>
                    <a:pt x="154432" y="806069"/>
                  </a:lnTo>
                  <a:cubicBezTo>
                    <a:pt x="69088" y="806069"/>
                    <a:pt x="0" y="736854"/>
                    <a:pt x="0" y="651637"/>
                  </a:cubicBezTo>
                  <a:lnTo>
                    <a:pt x="0" y="154432"/>
                  </a:lnTo>
                  <a:lnTo>
                    <a:pt x="6350" y="154432"/>
                  </a:lnTo>
                  <a:lnTo>
                    <a:pt x="0" y="154432"/>
                  </a:lnTo>
                  <a:moveTo>
                    <a:pt x="12700" y="154432"/>
                  </a:moveTo>
                  <a:lnTo>
                    <a:pt x="12700" y="651637"/>
                  </a:lnTo>
                  <a:lnTo>
                    <a:pt x="6350" y="651637"/>
                  </a:lnTo>
                  <a:lnTo>
                    <a:pt x="12700" y="651637"/>
                  </a:lnTo>
                  <a:cubicBezTo>
                    <a:pt x="12700" y="729869"/>
                    <a:pt x="76200" y="793369"/>
                    <a:pt x="154432" y="793369"/>
                  </a:cubicBezTo>
                  <a:lnTo>
                    <a:pt x="651637" y="793369"/>
                  </a:lnTo>
                  <a:cubicBezTo>
                    <a:pt x="729869" y="793369"/>
                    <a:pt x="793369" y="729869"/>
                    <a:pt x="793369" y="651637"/>
                  </a:cubicBezTo>
                  <a:lnTo>
                    <a:pt x="793369" y="154432"/>
                  </a:lnTo>
                  <a:cubicBezTo>
                    <a:pt x="793369" y="76200"/>
                    <a:pt x="729869" y="12700"/>
                    <a:pt x="651637" y="12700"/>
                  </a:cubicBezTo>
                  <a:lnTo>
                    <a:pt x="154432" y="12700"/>
                  </a:lnTo>
                  <a:lnTo>
                    <a:pt x="154432" y="6350"/>
                  </a:lnTo>
                  <a:lnTo>
                    <a:pt x="154432" y="12700"/>
                  </a:lnTo>
                  <a:cubicBezTo>
                    <a:pt x="76200" y="12700"/>
                    <a:pt x="12700" y="76200"/>
                    <a:pt x="12700" y="154432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82909" y="3580027"/>
            <a:ext cx="399401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Stretched Exponential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18813" y="4536695"/>
            <a:ext cx="604540" cy="604540"/>
            <a:chOff x="0" y="0"/>
            <a:chExt cx="806053" cy="806053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793369" cy="793369"/>
            </a:xfrm>
            <a:custGeom>
              <a:avLst/>
              <a:gdLst/>
              <a:ahLst/>
              <a:cxnLst/>
              <a:rect l="l" t="t" r="r" b="b"/>
              <a:pathLst>
                <a:path w="793369" h="793369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45287" y="0"/>
                  </a:lnTo>
                  <a:cubicBezTo>
                    <a:pt x="727075" y="0"/>
                    <a:pt x="793369" y="66294"/>
                    <a:pt x="793369" y="148082"/>
                  </a:cubicBezTo>
                  <a:lnTo>
                    <a:pt x="793369" y="645287"/>
                  </a:lnTo>
                  <a:cubicBezTo>
                    <a:pt x="793369" y="727075"/>
                    <a:pt x="727075" y="793369"/>
                    <a:pt x="645287" y="793369"/>
                  </a:cubicBezTo>
                  <a:lnTo>
                    <a:pt x="148082" y="793369"/>
                  </a:lnTo>
                  <a:cubicBezTo>
                    <a:pt x="66294" y="793369"/>
                    <a:pt x="0" y="727075"/>
                    <a:pt x="0" y="645287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651637" y="0"/>
                  </a:lnTo>
                  <a:lnTo>
                    <a:pt x="651637" y="6350"/>
                  </a:lnTo>
                  <a:lnTo>
                    <a:pt x="651637" y="0"/>
                  </a:lnTo>
                  <a:cubicBezTo>
                    <a:pt x="736981" y="0"/>
                    <a:pt x="806069" y="69088"/>
                    <a:pt x="806069" y="154432"/>
                  </a:cubicBezTo>
                  <a:lnTo>
                    <a:pt x="799719" y="154432"/>
                  </a:lnTo>
                  <a:lnTo>
                    <a:pt x="806069" y="154432"/>
                  </a:lnTo>
                  <a:lnTo>
                    <a:pt x="806069" y="651637"/>
                  </a:lnTo>
                  <a:lnTo>
                    <a:pt x="799719" y="651637"/>
                  </a:lnTo>
                  <a:lnTo>
                    <a:pt x="806069" y="651637"/>
                  </a:lnTo>
                  <a:cubicBezTo>
                    <a:pt x="806069" y="736981"/>
                    <a:pt x="736981" y="806069"/>
                    <a:pt x="651637" y="806069"/>
                  </a:cubicBezTo>
                  <a:lnTo>
                    <a:pt x="651637" y="799719"/>
                  </a:lnTo>
                  <a:lnTo>
                    <a:pt x="651637" y="806069"/>
                  </a:lnTo>
                  <a:lnTo>
                    <a:pt x="154432" y="806069"/>
                  </a:lnTo>
                  <a:lnTo>
                    <a:pt x="154432" y="799719"/>
                  </a:lnTo>
                  <a:lnTo>
                    <a:pt x="154432" y="806069"/>
                  </a:lnTo>
                  <a:cubicBezTo>
                    <a:pt x="69088" y="806069"/>
                    <a:pt x="0" y="736854"/>
                    <a:pt x="0" y="651637"/>
                  </a:cubicBezTo>
                  <a:lnTo>
                    <a:pt x="0" y="154432"/>
                  </a:lnTo>
                  <a:lnTo>
                    <a:pt x="6350" y="154432"/>
                  </a:lnTo>
                  <a:lnTo>
                    <a:pt x="0" y="154432"/>
                  </a:lnTo>
                  <a:moveTo>
                    <a:pt x="12700" y="154432"/>
                  </a:moveTo>
                  <a:lnTo>
                    <a:pt x="12700" y="651637"/>
                  </a:lnTo>
                  <a:lnTo>
                    <a:pt x="6350" y="651637"/>
                  </a:lnTo>
                  <a:lnTo>
                    <a:pt x="12700" y="651637"/>
                  </a:lnTo>
                  <a:cubicBezTo>
                    <a:pt x="12700" y="729869"/>
                    <a:pt x="76200" y="793369"/>
                    <a:pt x="154432" y="793369"/>
                  </a:cubicBezTo>
                  <a:lnTo>
                    <a:pt x="651637" y="793369"/>
                  </a:lnTo>
                  <a:cubicBezTo>
                    <a:pt x="729869" y="793369"/>
                    <a:pt x="793369" y="729869"/>
                    <a:pt x="793369" y="651637"/>
                  </a:cubicBezTo>
                  <a:lnTo>
                    <a:pt x="793369" y="154432"/>
                  </a:lnTo>
                  <a:cubicBezTo>
                    <a:pt x="793369" y="76200"/>
                    <a:pt x="729869" y="12700"/>
                    <a:pt x="651637" y="12700"/>
                  </a:cubicBezTo>
                  <a:lnTo>
                    <a:pt x="154432" y="12700"/>
                  </a:lnTo>
                  <a:lnTo>
                    <a:pt x="154432" y="6350"/>
                  </a:lnTo>
                  <a:lnTo>
                    <a:pt x="154432" y="12700"/>
                  </a:lnTo>
                  <a:cubicBezTo>
                    <a:pt x="76200" y="12700"/>
                    <a:pt x="12700" y="76200"/>
                    <a:pt x="12700" y="154432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182909" y="4622717"/>
            <a:ext cx="402280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Power-law with Cutoff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860552" y="6065286"/>
            <a:ext cx="14040641" cy="2923549"/>
            <a:chOff x="0" y="0"/>
            <a:chExt cx="18720854" cy="3898065"/>
          </a:xfrm>
        </p:grpSpPr>
        <p:sp>
          <p:nvSpPr>
            <p:cNvPr id="21" name="Freeform 21"/>
            <p:cNvSpPr/>
            <p:nvPr/>
          </p:nvSpPr>
          <p:spPr>
            <a:xfrm>
              <a:off x="5503915" y="32196"/>
              <a:ext cx="2115184" cy="2115184"/>
            </a:xfrm>
            <a:custGeom>
              <a:avLst/>
              <a:gdLst/>
              <a:ahLst/>
              <a:cxnLst/>
              <a:rect l="l" t="t" r="r" b="b"/>
              <a:pathLst>
                <a:path w="2115184" h="2115184">
                  <a:moveTo>
                    <a:pt x="0" y="0"/>
                  </a:moveTo>
                  <a:lnTo>
                    <a:pt x="2115185" y="0"/>
                  </a:lnTo>
                  <a:lnTo>
                    <a:pt x="2115185" y="2115184"/>
                  </a:lnTo>
                  <a:lnTo>
                    <a:pt x="0" y="2115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84126" y="2419511"/>
              <a:ext cx="2354763" cy="562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sz="2331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Grid Search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9925" y="3036347"/>
              <a:ext cx="3903165" cy="425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7"/>
                </a:lnSpc>
                <a:spcBef>
                  <a:spcPct val="0"/>
                </a:spcBef>
              </a:pPr>
              <a:r>
                <a:rPr lang="en-US" sz="1785">
                  <a:solidFill>
                    <a:srgbClr val="000000"/>
                  </a:solidFill>
                  <a:latin typeface="Alexandria"/>
                  <a:ea typeface="Alexandria"/>
                  <a:cs typeface="Alexandria"/>
                  <a:sym typeface="Alexandria"/>
                </a:rPr>
                <a:t>Over parameter space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82333" y="1467"/>
              <a:ext cx="2565959" cy="2482565"/>
            </a:xfrm>
            <a:custGeom>
              <a:avLst/>
              <a:gdLst/>
              <a:ahLst/>
              <a:cxnLst/>
              <a:rect l="l" t="t" r="r" b="b"/>
              <a:pathLst>
                <a:path w="2565959" h="2482565">
                  <a:moveTo>
                    <a:pt x="0" y="0"/>
                  </a:moveTo>
                  <a:lnTo>
                    <a:pt x="2565959" y="0"/>
                  </a:lnTo>
                  <a:lnTo>
                    <a:pt x="2565959" y="2482566"/>
                  </a:lnTo>
                  <a:lnTo>
                    <a:pt x="0" y="2482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21761" y="2366765"/>
              <a:ext cx="859643" cy="562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sz="2331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MLE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3005619"/>
              <a:ext cx="3903165" cy="892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7"/>
                </a:lnSpc>
                <a:spcBef>
                  <a:spcPct val="0"/>
                </a:spcBef>
              </a:pPr>
              <a:r>
                <a:rPr lang="en-US" sz="1785">
                  <a:solidFill>
                    <a:srgbClr val="000000"/>
                  </a:solidFill>
                  <a:latin typeface="Alexandria"/>
                  <a:ea typeface="Alexandria"/>
                  <a:cs typeface="Alexandria"/>
                  <a:sym typeface="Alexandria"/>
                </a:rPr>
                <a:t>Tail-constrained and adapted to binned data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855284" y="1467"/>
              <a:ext cx="2043797" cy="2115184"/>
            </a:xfrm>
            <a:custGeom>
              <a:avLst/>
              <a:gdLst/>
              <a:ahLst/>
              <a:cxnLst/>
              <a:rect l="l" t="t" r="r" b="b"/>
              <a:pathLst>
                <a:path w="2043797" h="2115184">
                  <a:moveTo>
                    <a:pt x="0" y="0"/>
                  </a:moveTo>
                  <a:lnTo>
                    <a:pt x="2043797" y="0"/>
                  </a:lnTo>
                  <a:lnTo>
                    <a:pt x="2043797" y="2115185"/>
                  </a:lnTo>
                  <a:lnTo>
                    <a:pt x="0" y="2115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033511" y="2388783"/>
              <a:ext cx="3687343" cy="562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44"/>
                </a:lnSpc>
                <a:spcBef>
                  <a:spcPct val="0"/>
                </a:spcBef>
              </a:pPr>
              <a:r>
                <a:rPr lang="en-US" sz="2331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Synthetic Dataset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817689" y="2983601"/>
              <a:ext cx="3903165" cy="906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7"/>
                </a:lnSpc>
                <a:spcBef>
                  <a:spcPct val="0"/>
                </a:spcBef>
              </a:pPr>
              <a:r>
                <a:rPr lang="en-US" sz="1785">
                  <a:solidFill>
                    <a:srgbClr val="000000"/>
                  </a:solidFill>
                  <a:latin typeface="Alexandria"/>
                  <a:ea typeface="Alexandria"/>
                  <a:cs typeface="Alexandria"/>
                  <a:sym typeface="Alexandria"/>
                </a:rPr>
                <a:t>Generated from known distributions 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0254693" y="0"/>
              <a:ext cx="2820246" cy="2115184"/>
            </a:xfrm>
            <a:custGeom>
              <a:avLst/>
              <a:gdLst/>
              <a:ahLst/>
              <a:cxnLst/>
              <a:rect l="l" t="t" r="r" b="b"/>
              <a:pathLst>
                <a:path w="2820246" h="2115184">
                  <a:moveTo>
                    <a:pt x="0" y="0"/>
                  </a:moveTo>
                  <a:lnTo>
                    <a:pt x="2820246" y="0"/>
                  </a:lnTo>
                  <a:lnTo>
                    <a:pt x="2820246" y="2115184"/>
                  </a:lnTo>
                  <a:lnTo>
                    <a:pt x="0" y="2115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19850" y="2365298"/>
              <a:ext cx="4889931" cy="562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sz="2331" b="1">
                  <a:solidFill>
                    <a:srgbClr val="000000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Numerical Optimization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13233" y="2982134"/>
              <a:ext cx="3903165" cy="425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7"/>
                </a:lnSpc>
                <a:spcBef>
                  <a:spcPct val="0"/>
                </a:spcBef>
              </a:pPr>
              <a:r>
                <a:rPr lang="en-US" sz="1785">
                  <a:solidFill>
                    <a:srgbClr val="000000"/>
                  </a:solidFill>
                  <a:latin typeface="Alexandria"/>
                  <a:ea typeface="Alexandria"/>
                  <a:cs typeface="Alexandria"/>
                  <a:sym typeface="Alexandria"/>
                </a:rPr>
                <a:t>Nelder-Mead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14679838" y="4405241"/>
            <a:ext cx="2443578" cy="713453"/>
          </a:xfrm>
          <a:custGeom>
            <a:avLst/>
            <a:gdLst/>
            <a:ahLst/>
            <a:cxnLst/>
            <a:rect l="l" t="t" r="r" b="b"/>
            <a:pathLst>
              <a:path w="2443578" h="713453">
                <a:moveTo>
                  <a:pt x="0" y="0"/>
                </a:moveTo>
                <a:lnTo>
                  <a:pt x="2443578" y="0"/>
                </a:lnTo>
                <a:lnTo>
                  <a:pt x="2443578" y="713454"/>
                </a:lnTo>
                <a:lnTo>
                  <a:pt x="0" y="713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9125" t="-209655" r="-145685" b="-35464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4" name="Freeform 34"/>
          <p:cNvSpPr/>
          <p:nvPr/>
        </p:nvSpPr>
        <p:spPr>
          <a:xfrm>
            <a:off x="14609432" y="3239070"/>
            <a:ext cx="2847386" cy="811858"/>
          </a:xfrm>
          <a:custGeom>
            <a:avLst/>
            <a:gdLst/>
            <a:ahLst/>
            <a:cxnLst/>
            <a:rect l="l" t="t" r="r" b="b"/>
            <a:pathLst>
              <a:path w="2847386" h="811858">
                <a:moveTo>
                  <a:pt x="0" y="0"/>
                </a:moveTo>
                <a:lnTo>
                  <a:pt x="2847386" y="0"/>
                </a:lnTo>
                <a:lnTo>
                  <a:pt x="2847386" y="811858"/>
                </a:lnTo>
                <a:lnTo>
                  <a:pt x="0" y="8118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1240" t="-91104" r="-53962" b="-19399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>
            <a:off x="4144640" y="3324816"/>
            <a:ext cx="3868528" cy="847685"/>
          </a:xfrm>
          <a:custGeom>
            <a:avLst/>
            <a:gdLst/>
            <a:ahLst/>
            <a:cxnLst/>
            <a:rect l="l" t="t" r="r" b="b"/>
            <a:pathLst>
              <a:path w="3868528" h="847685">
                <a:moveTo>
                  <a:pt x="0" y="0"/>
                </a:moveTo>
                <a:lnTo>
                  <a:pt x="3868527" y="0"/>
                </a:lnTo>
                <a:lnTo>
                  <a:pt x="3868527" y="847685"/>
                </a:lnTo>
                <a:lnTo>
                  <a:pt x="0" y="8476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403" t="-132476" r="-58800" b="-25065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Freeform 36"/>
          <p:cNvSpPr/>
          <p:nvPr/>
        </p:nvSpPr>
        <p:spPr>
          <a:xfrm>
            <a:off x="5370527" y="4488943"/>
            <a:ext cx="1416754" cy="700043"/>
          </a:xfrm>
          <a:custGeom>
            <a:avLst/>
            <a:gdLst/>
            <a:ahLst/>
            <a:cxnLst/>
            <a:rect l="l" t="t" r="r" b="b"/>
            <a:pathLst>
              <a:path w="1416754" h="700043">
                <a:moveTo>
                  <a:pt x="0" y="0"/>
                </a:moveTo>
                <a:lnTo>
                  <a:pt x="1416754" y="0"/>
                </a:lnTo>
                <a:lnTo>
                  <a:pt x="1416754" y="700043"/>
                </a:lnTo>
                <a:lnTo>
                  <a:pt x="0" y="7000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0943" t="-223481" r="-274811" b="-30918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7" name="TextBox 37"/>
          <p:cNvSpPr txBox="1"/>
          <p:nvPr/>
        </p:nvSpPr>
        <p:spPr>
          <a:xfrm>
            <a:off x="502444" y="1886991"/>
            <a:ext cx="1675685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231" lvl="1" indent="-290116" algn="l">
              <a:lnSpc>
                <a:spcPts val="3374"/>
              </a:lnSpc>
              <a:buFont typeface="Arial"/>
              <a:buChar char="•"/>
            </a:pPr>
            <a:r>
              <a:rPr lang="en-US" sz="2687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To benchmark the power-law model, the implementation of four alternative distributions was adopted: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2444" y="375642"/>
            <a:ext cx="15399183" cy="77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Beyond the Power-law: Alternative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53937"/>
            <a:chOff x="0" y="0"/>
            <a:chExt cx="23957017" cy="1904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57017" cy="1904636"/>
            </a:xfrm>
            <a:custGeom>
              <a:avLst/>
              <a:gdLst/>
              <a:ahLst/>
              <a:cxnLst/>
              <a:rect l="l" t="t" r="r" b="b"/>
              <a:pathLst>
                <a:path w="23957017" h="1904636">
                  <a:moveTo>
                    <a:pt x="0" y="0"/>
                  </a:moveTo>
                  <a:lnTo>
                    <a:pt x="23957017" y="0"/>
                  </a:lnTo>
                  <a:lnTo>
                    <a:pt x="23957017" y="1904636"/>
                  </a:lnTo>
                  <a:lnTo>
                    <a:pt x="0" y="1904636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9595" y="1611900"/>
            <a:ext cx="16504402" cy="3678191"/>
            <a:chOff x="0" y="0"/>
            <a:chExt cx="22005869" cy="490425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2005869" cy="4904255"/>
              <a:chOff x="0" y="0"/>
              <a:chExt cx="22827396" cy="508734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2827428" cy="5087303"/>
              </a:xfrm>
              <a:custGeom>
                <a:avLst/>
                <a:gdLst/>
                <a:ahLst/>
                <a:cxnLst/>
                <a:rect l="l" t="t" r="r" b="b"/>
                <a:pathLst>
                  <a:path w="22827428" h="5087303">
                    <a:moveTo>
                      <a:pt x="0" y="192204"/>
                    </a:moveTo>
                    <a:cubicBezTo>
                      <a:pt x="0" y="86040"/>
                      <a:pt x="72030" y="0"/>
                      <a:pt x="160713" y="0"/>
                    </a:cubicBezTo>
                    <a:lnTo>
                      <a:pt x="22666716" y="0"/>
                    </a:lnTo>
                    <a:lnTo>
                      <a:pt x="22666716" y="7923"/>
                    </a:lnTo>
                    <a:lnTo>
                      <a:pt x="22666716" y="0"/>
                    </a:lnTo>
                    <a:cubicBezTo>
                      <a:pt x="22755399" y="0"/>
                      <a:pt x="22827428" y="86040"/>
                      <a:pt x="22827428" y="192204"/>
                    </a:cubicBezTo>
                    <a:lnTo>
                      <a:pt x="22820821" y="192204"/>
                    </a:lnTo>
                    <a:lnTo>
                      <a:pt x="22827428" y="192204"/>
                    </a:lnTo>
                    <a:lnTo>
                      <a:pt x="22827428" y="4895098"/>
                    </a:lnTo>
                    <a:lnTo>
                      <a:pt x="22820821" y="4895098"/>
                    </a:lnTo>
                    <a:lnTo>
                      <a:pt x="22827428" y="4895098"/>
                    </a:lnTo>
                    <a:cubicBezTo>
                      <a:pt x="22827428" y="5001262"/>
                      <a:pt x="22755399" y="5087303"/>
                      <a:pt x="22666716" y="5087303"/>
                    </a:cubicBezTo>
                    <a:lnTo>
                      <a:pt x="22666716" y="5079380"/>
                    </a:lnTo>
                    <a:lnTo>
                      <a:pt x="22666716" y="5087303"/>
                    </a:lnTo>
                    <a:lnTo>
                      <a:pt x="160713" y="5087303"/>
                    </a:lnTo>
                    <a:lnTo>
                      <a:pt x="160713" y="5079380"/>
                    </a:lnTo>
                    <a:lnTo>
                      <a:pt x="160713" y="5087303"/>
                    </a:lnTo>
                    <a:cubicBezTo>
                      <a:pt x="72030" y="5087303"/>
                      <a:pt x="0" y="5001263"/>
                      <a:pt x="0" y="4895098"/>
                    </a:cubicBezTo>
                    <a:lnTo>
                      <a:pt x="0" y="192204"/>
                    </a:lnTo>
                    <a:lnTo>
                      <a:pt x="6608" y="192204"/>
                    </a:lnTo>
                    <a:lnTo>
                      <a:pt x="0" y="192204"/>
                    </a:lnTo>
                    <a:moveTo>
                      <a:pt x="13217" y="192204"/>
                    </a:moveTo>
                    <a:lnTo>
                      <a:pt x="13217" y="4895098"/>
                    </a:lnTo>
                    <a:lnTo>
                      <a:pt x="6608" y="4895098"/>
                    </a:lnTo>
                    <a:lnTo>
                      <a:pt x="13217" y="4895098"/>
                    </a:lnTo>
                    <a:cubicBezTo>
                      <a:pt x="13217" y="4992547"/>
                      <a:pt x="79299" y="5071457"/>
                      <a:pt x="160713" y="5071457"/>
                    </a:cubicBezTo>
                    <a:lnTo>
                      <a:pt x="22666716" y="5071457"/>
                    </a:lnTo>
                    <a:cubicBezTo>
                      <a:pt x="22748263" y="5071457"/>
                      <a:pt x="22814212" y="4992547"/>
                      <a:pt x="22814212" y="4895098"/>
                    </a:cubicBezTo>
                    <a:lnTo>
                      <a:pt x="22814212" y="192204"/>
                    </a:lnTo>
                    <a:cubicBezTo>
                      <a:pt x="22814212" y="94755"/>
                      <a:pt x="22748131" y="15845"/>
                      <a:pt x="22666716" y="15845"/>
                    </a:cubicBezTo>
                    <a:lnTo>
                      <a:pt x="160713" y="15845"/>
                    </a:lnTo>
                    <a:lnTo>
                      <a:pt x="160713" y="7923"/>
                    </a:lnTo>
                    <a:lnTo>
                      <a:pt x="160713" y="15845"/>
                    </a:lnTo>
                    <a:cubicBezTo>
                      <a:pt x="79299" y="15845"/>
                      <a:pt x="13217" y="94755"/>
                      <a:pt x="13217" y="192204"/>
                    </a:cubicBezTo>
                    <a:close/>
                  </a:path>
                </a:pathLst>
              </a:custGeom>
              <a:solidFill>
                <a:srgbClr val="000000">
                  <a:alpha val="392"/>
                </a:srgbClr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9111" y="18364"/>
              <a:ext cx="21967647" cy="973505"/>
              <a:chOff x="0" y="0"/>
              <a:chExt cx="22787746" cy="100984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787777" cy="1009904"/>
              </a:xfrm>
              <a:custGeom>
                <a:avLst/>
                <a:gdLst/>
                <a:ahLst/>
                <a:cxnLst/>
                <a:rect l="l" t="t" r="r" b="b"/>
                <a:pathLst>
                  <a:path w="22787777" h="1009904">
                    <a:moveTo>
                      <a:pt x="0" y="0"/>
                    </a:moveTo>
                    <a:lnTo>
                      <a:pt x="22787777" y="0"/>
                    </a:lnTo>
                    <a:lnTo>
                      <a:pt x="22787777" y="1009904"/>
                    </a:lnTo>
                    <a:lnTo>
                      <a:pt x="0" y="1009904"/>
                    </a:ln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681139" y="157756"/>
              <a:ext cx="2127087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3"/>
                </a:lnSpc>
              </a:pPr>
              <a:r>
                <a:rPr lang="en-US" sz="1988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Parameters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0701" y="183134"/>
              <a:ext cx="1210091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3"/>
                </a:lnSpc>
              </a:pPr>
              <a:r>
                <a:rPr lang="en-US" sz="1988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Model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29592" y="157756"/>
              <a:ext cx="3530380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3"/>
                </a:lnSpc>
              </a:pPr>
              <a:r>
                <a:rPr lang="en-US" sz="1988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Estimation Method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33261" y="183134"/>
              <a:ext cx="1118459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Notes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9111" y="991870"/>
              <a:ext cx="21967647" cy="973505"/>
              <a:chOff x="0" y="0"/>
              <a:chExt cx="22787746" cy="100984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787777" cy="1009904"/>
              </a:xfrm>
              <a:custGeom>
                <a:avLst/>
                <a:gdLst/>
                <a:ahLst/>
                <a:cxnLst/>
                <a:rect l="l" t="t" r="r" b="b"/>
                <a:pathLst>
                  <a:path w="22787777" h="1009904">
                    <a:moveTo>
                      <a:pt x="0" y="0"/>
                    </a:moveTo>
                    <a:lnTo>
                      <a:pt x="22787777" y="0"/>
                    </a:lnTo>
                    <a:lnTo>
                      <a:pt x="22787777" y="1009904"/>
                    </a:lnTo>
                    <a:lnTo>
                      <a:pt x="0" y="10099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7340" y="1131261"/>
              <a:ext cx="2166905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Log-normal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32775" y="1160529"/>
              <a:ext cx="4587087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μ, 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42466" y="1131241"/>
              <a:ext cx="4587087" cy="478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Grid Search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82449" y="1131261"/>
              <a:ext cx="7620083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000000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Most accurate; handles flexible tails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82449" y="2104766"/>
              <a:ext cx="7620083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000000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 Robust and efficient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9111" y="1965375"/>
              <a:ext cx="18564108" cy="973505"/>
              <a:chOff x="0" y="0"/>
              <a:chExt cx="19257146" cy="100984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9257177" cy="1009904"/>
              </a:xfrm>
              <a:custGeom>
                <a:avLst/>
                <a:gdLst/>
                <a:ahLst/>
                <a:cxnLst/>
                <a:rect l="l" t="t" r="r" b="b"/>
                <a:pathLst>
                  <a:path w="19257177" h="1009904">
                    <a:moveTo>
                      <a:pt x="0" y="0"/>
                    </a:moveTo>
                    <a:lnTo>
                      <a:pt x="19257177" y="0"/>
                    </a:lnTo>
                    <a:lnTo>
                      <a:pt x="19257177" y="1009904"/>
                    </a:lnTo>
                    <a:lnTo>
                      <a:pt x="0" y="1009904"/>
                    </a:ln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57340" y="2104766"/>
              <a:ext cx="4593209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Exponential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32775" y="2134034"/>
              <a:ext cx="4587087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42466" y="2134034"/>
              <a:ext cx="4587087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Closed-form MLE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9111" y="2938880"/>
              <a:ext cx="21967647" cy="973505"/>
              <a:chOff x="0" y="0"/>
              <a:chExt cx="22787746" cy="100984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2787777" cy="1009904"/>
              </a:xfrm>
              <a:custGeom>
                <a:avLst/>
                <a:gdLst/>
                <a:ahLst/>
                <a:cxnLst/>
                <a:rect l="l" t="t" r="r" b="b"/>
                <a:pathLst>
                  <a:path w="22787777" h="1009904">
                    <a:moveTo>
                      <a:pt x="0" y="0"/>
                    </a:moveTo>
                    <a:lnTo>
                      <a:pt x="22787777" y="0"/>
                    </a:lnTo>
                    <a:lnTo>
                      <a:pt x="22787777" y="1009904"/>
                    </a:lnTo>
                    <a:lnTo>
                      <a:pt x="0" y="100990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57340" y="3078272"/>
              <a:ext cx="4593209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Stretched Exponential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32775" y="3107539"/>
              <a:ext cx="4587087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λ, 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42466" y="3107539"/>
              <a:ext cx="4587087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Grid Search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717502" y="3107539"/>
              <a:ext cx="6149976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000000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Harder to fit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8223" y="3930750"/>
              <a:ext cx="21967647" cy="973505"/>
              <a:chOff x="0" y="0"/>
              <a:chExt cx="22787746" cy="100984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2787777" cy="1009904"/>
              </a:xfrm>
              <a:custGeom>
                <a:avLst/>
                <a:gdLst/>
                <a:ahLst/>
                <a:cxnLst/>
                <a:rect l="l" t="t" r="r" b="b"/>
                <a:pathLst>
                  <a:path w="22787777" h="1009904">
                    <a:moveTo>
                      <a:pt x="0" y="0"/>
                    </a:moveTo>
                    <a:lnTo>
                      <a:pt x="22787777" y="0"/>
                    </a:lnTo>
                    <a:lnTo>
                      <a:pt x="22787777" y="1009904"/>
                    </a:lnTo>
                    <a:lnTo>
                      <a:pt x="0" y="1009904"/>
                    </a:lnTo>
                    <a:close/>
                  </a:path>
                </a:pathLst>
              </a:custGeom>
              <a:solidFill>
                <a:srgbClr val="FFFFFF">
                  <a:alpha val="0"/>
                </a:srgbClr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75704" y="4070141"/>
              <a:ext cx="4593209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Power-law + Cutoff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51139" y="4099409"/>
              <a:ext cx="4587087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α, 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26038" y="4099409"/>
              <a:ext cx="5056672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3B3535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Optimization + Grid Fallback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006168" y="4099409"/>
              <a:ext cx="5572645" cy="478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3"/>
                </a:lnSpc>
              </a:pPr>
              <a:r>
                <a:rPr lang="en-US" sz="1988">
                  <a:solidFill>
                    <a:srgbClr val="000000"/>
                  </a:solidFill>
                  <a:latin typeface="Alexandria Light"/>
                  <a:ea typeface="Alexandria Light"/>
                  <a:cs typeface="Alexandria Light"/>
                  <a:sym typeface="Alexandria Light"/>
                </a:rPr>
                <a:t>Good for truncated heavy tails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02444" y="375642"/>
            <a:ext cx="15399183" cy="77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 Details &amp; Estimated Accuracy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2444" y="8910677"/>
            <a:ext cx="18272408" cy="81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All accuracy estimates are derived from controlled synthetic tests (see </a:t>
            </a:r>
            <a:r>
              <a:rPr lang="en-US" sz="2062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test_blgnormfit</a:t>
            </a: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, </a:t>
            </a:r>
            <a:r>
              <a:rPr lang="en-US" sz="2062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test_bexpnfit</a:t>
            </a: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, </a:t>
            </a:r>
            <a:r>
              <a:rPr lang="en-US" sz="2062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test_bplcutfit</a:t>
            </a: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, </a:t>
            </a:r>
            <a:r>
              <a:rPr lang="en-US" sz="2062" b="1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test_bstexpnfit</a:t>
            </a: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), ensuring correctness even under noisy or sparse data conditions.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654563" y="6531839"/>
            <a:ext cx="12994466" cy="1835913"/>
            <a:chOff x="0" y="0"/>
            <a:chExt cx="17325954" cy="2447884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1641831"/>
              <a:ext cx="806053" cy="806053"/>
              <a:chOff x="0" y="0"/>
              <a:chExt cx="806053" cy="80605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350" y="6350"/>
                <a:ext cx="793369" cy="793369"/>
              </a:xfrm>
              <a:custGeom>
                <a:avLst/>
                <a:gdLst/>
                <a:ahLst/>
                <a:cxnLst/>
                <a:rect l="l" t="t" r="r" b="b"/>
                <a:pathLst>
                  <a:path w="793369" h="793369">
                    <a:moveTo>
                      <a:pt x="0" y="148082"/>
                    </a:moveTo>
                    <a:cubicBezTo>
                      <a:pt x="0" y="66294"/>
                      <a:pt x="66294" y="0"/>
                      <a:pt x="148082" y="0"/>
                    </a:cubicBezTo>
                    <a:lnTo>
                      <a:pt x="645287" y="0"/>
                    </a:lnTo>
                    <a:cubicBezTo>
                      <a:pt x="727075" y="0"/>
                      <a:pt x="793369" y="66294"/>
                      <a:pt x="793369" y="148082"/>
                    </a:cubicBezTo>
                    <a:lnTo>
                      <a:pt x="793369" y="645287"/>
                    </a:lnTo>
                    <a:cubicBezTo>
                      <a:pt x="793369" y="727075"/>
                      <a:pt x="727075" y="793369"/>
                      <a:pt x="645287" y="793369"/>
                    </a:cubicBezTo>
                    <a:lnTo>
                      <a:pt x="148082" y="793369"/>
                    </a:lnTo>
                    <a:cubicBezTo>
                      <a:pt x="66294" y="793369"/>
                      <a:pt x="0" y="727075"/>
                      <a:pt x="0" y="645287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0" y="0"/>
                <a:ext cx="806069" cy="806069"/>
              </a:xfrm>
              <a:custGeom>
                <a:avLst/>
                <a:gdLst/>
                <a:ahLst/>
                <a:cxnLst/>
                <a:rect l="l" t="t" r="r" b="b"/>
                <a:pathLst>
                  <a:path w="806069" h="806069">
                    <a:moveTo>
                      <a:pt x="0" y="154432"/>
                    </a:moveTo>
                    <a:cubicBezTo>
                      <a:pt x="0" y="69088"/>
                      <a:pt x="69088" y="0"/>
                      <a:pt x="154432" y="0"/>
                    </a:cubicBezTo>
                    <a:lnTo>
                      <a:pt x="651637" y="0"/>
                    </a:lnTo>
                    <a:lnTo>
                      <a:pt x="651637" y="6350"/>
                    </a:lnTo>
                    <a:lnTo>
                      <a:pt x="651637" y="0"/>
                    </a:lnTo>
                    <a:cubicBezTo>
                      <a:pt x="736981" y="0"/>
                      <a:pt x="806069" y="69088"/>
                      <a:pt x="806069" y="154432"/>
                    </a:cubicBezTo>
                    <a:lnTo>
                      <a:pt x="799719" y="154432"/>
                    </a:lnTo>
                    <a:lnTo>
                      <a:pt x="806069" y="154432"/>
                    </a:lnTo>
                    <a:lnTo>
                      <a:pt x="806069" y="651637"/>
                    </a:lnTo>
                    <a:lnTo>
                      <a:pt x="799719" y="651637"/>
                    </a:lnTo>
                    <a:lnTo>
                      <a:pt x="806069" y="651637"/>
                    </a:lnTo>
                    <a:cubicBezTo>
                      <a:pt x="806069" y="736981"/>
                      <a:pt x="736981" y="806069"/>
                      <a:pt x="651637" y="806069"/>
                    </a:cubicBezTo>
                    <a:lnTo>
                      <a:pt x="651637" y="799719"/>
                    </a:lnTo>
                    <a:lnTo>
                      <a:pt x="651637" y="806069"/>
                    </a:lnTo>
                    <a:lnTo>
                      <a:pt x="154432" y="806069"/>
                    </a:lnTo>
                    <a:lnTo>
                      <a:pt x="154432" y="799719"/>
                    </a:lnTo>
                    <a:lnTo>
                      <a:pt x="154432" y="806069"/>
                    </a:lnTo>
                    <a:cubicBezTo>
                      <a:pt x="69088" y="806069"/>
                      <a:pt x="0" y="736854"/>
                      <a:pt x="0" y="651637"/>
                    </a:cubicBezTo>
                    <a:lnTo>
                      <a:pt x="0" y="154432"/>
                    </a:lnTo>
                    <a:lnTo>
                      <a:pt x="6350" y="154432"/>
                    </a:lnTo>
                    <a:lnTo>
                      <a:pt x="0" y="154432"/>
                    </a:lnTo>
                    <a:moveTo>
                      <a:pt x="12700" y="154432"/>
                    </a:moveTo>
                    <a:lnTo>
                      <a:pt x="12700" y="651637"/>
                    </a:lnTo>
                    <a:lnTo>
                      <a:pt x="6350" y="651637"/>
                    </a:lnTo>
                    <a:lnTo>
                      <a:pt x="12700" y="651637"/>
                    </a:lnTo>
                    <a:cubicBezTo>
                      <a:pt x="12700" y="729869"/>
                      <a:pt x="76200" y="793369"/>
                      <a:pt x="154432" y="793369"/>
                    </a:cubicBezTo>
                    <a:lnTo>
                      <a:pt x="651637" y="793369"/>
                    </a:lnTo>
                    <a:cubicBezTo>
                      <a:pt x="729869" y="793369"/>
                      <a:pt x="793369" y="729869"/>
                      <a:pt x="793369" y="651637"/>
                    </a:cubicBezTo>
                    <a:lnTo>
                      <a:pt x="793369" y="154432"/>
                    </a:lnTo>
                    <a:cubicBezTo>
                      <a:pt x="793369" y="76200"/>
                      <a:pt x="729869" y="12700"/>
                      <a:pt x="651637" y="12700"/>
                    </a:cubicBezTo>
                    <a:lnTo>
                      <a:pt x="154432" y="12700"/>
                    </a:lnTo>
                    <a:lnTo>
                      <a:pt x="154432" y="6350"/>
                    </a:lnTo>
                    <a:lnTo>
                      <a:pt x="154432" y="12700"/>
                    </a:lnTo>
                    <a:cubicBezTo>
                      <a:pt x="76200" y="12700"/>
                      <a:pt x="12700" y="76200"/>
                      <a:pt x="12700" y="154432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0" y="0"/>
              <a:ext cx="806053" cy="806053"/>
              <a:chOff x="0" y="0"/>
              <a:chExt cx="806053" cy="80605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350" y="6350"/>
                <a:ext cx="793369" cy="793369"/>
              </a:xfrm>
              <a:custGeom>
                <a:avLst/>
                <a:gdLst/>
                <a:ahLst/>
                <a:cxnLst/>
                <a:rect l="l" t="t" r="r" b="b"/>
                <a:pathLst>
                  <a:path w="793369" h="793369">
                    <a:moveTo>
                      <a:pt x="0" y="148082"/>
                    </a:moveTo>
                    <a:cubicBezTo>
                      <a:pt x="0" y="66294"/>
                      <a:pt x="66294" y="0"/>
                      <a:pt x="148082" y="0"/>
                    </a:cubicBezTo>
                    <a:lnTo>
                      <a:pt x="645287" y="0"/>
                    </a:lnTo>
                    <a:cubicBezTo>
                      <a:pt x="727075" y="0"/>
                      <a:pt x="793369" y="66294"/>
                      <a:pt x="793369" y="148082"/>
                    </a:cubicBezTo>
                    <a:lnTo>
                      <a:pt x="793369" y="645287"/>
                    </a:lnTo>
                    <a:cubicBezTo>
                      <a:pt x="793369" y="727075"/>
                      <a:pt x="727075" y="793369"/>
                      <a:pt x="645287" y="793369"/>
                    </a:cubicBezTo>
                    <a:lnTo>
                      <a:pt x="148082" y="793369"/>
                    </a:lnTo>
                    <a:cubicBezTo>
                      <a:pt x="66294" y="793369"/>
                      <a:pt x="0" y="727075"/>
                      <a:pt x="0" y="645287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0" y="0"/>
                <a:ext cx="806069" cy="806069"/>
              </a:xfrm>
              <a:custGeom>
                <a:avLst/>
                <a:gdLst/>
                <a:ahLst/>
                <a:cxnLst/>
                <a:rect l="l" t="t" r="r" b="b"/>
                <a:pathLst>
                  <a:path w="806069" h="806069">
                    <a:moveTo>
                      <a:pt x="0" y="154432"/>
                    </a:moveTo>
                    <a:cubicBezTo>
                      <a:pt x="0" y="69088"/>
                      <a:pt x="69088" y="0"/>
                      <a:pt x="154432" y="0"/>
                    </a:cubicBezTo>
                    <a:lnTo>
                      <a:pt x="651637" y="0"/>
                    </a:lnTo>
                    <a:lnTo>
                      <a:pt x="651637" y="6350"/>
                    </a:lnTo>
                    <a:lnTo>
                      <a:pt x="651637" y="0"/>
                    </a:lnTo>
                    <a:cubicBezTo>
                      <a:pt x="736981" y="0"/>
                      <a:pt x="806069" y="69088"/>
                      <a:pt x="806069" y="154432"/>
                    </a:cubicBezTo>
                    <a:lnTo>
                      <a:pt x="799719" y="154432"/>
                    </a:lnTo>
                    <a:lnTo>
                      <a:pt x="806069" y="154432"/>
                    </a:lnTo>
                    <a:lnTo>
                      <a:pt x="806069" y="651637"/>
                    </a:lnTo>
                    <a:lnTo>
                      <a:pt x="799719" y="651637"/>
                    </a:lnTo>
                    <a:lnTo>
                      <a:pt x="806069" y="651637"/>
                    </a:lnTo>
                    <a:cubicBezTo>
                      <a:pt x="806069" y="736981"/>
                      <a:pt x="736981" y="806069"/>
                      <a:pt x="651637" y="806069"/>
                    </a:cubicBezTo>
                    <a:lnTo>
                      <a:pt x="651637" y="799719"/>
                    </a:lnTo>
                    <a:lnTo>
                      <a:pt x="651637" y="806069"/>
                    </a:lnTo>
                    <a:lnTo>
                      <a:pt x="154432" y="806069"/>
                    </a:lnTo>
                    <a:lnTo>
                      <a:pt x="154432" y="799719"/>
                    </a:lnTo>
                    <a:lnTo>
                      <a:pt x="154432" y="806069"/>
                    </a:lnTo>
                    <a:cubicBezTo>
                      <a:pt x="69088" y="806069"/>
                      <a:pt x="0" y="736854"/>
                      <a:pt x="0" y="651637"/>
                    </a:cubicBezTo>
                    <a:lnTo>
                      <a:pt x="0" y="154432"/>
                    </a:lnTo>
                    <a:lnTo>
                      <a:pt x="6350" y="154432"/>
                    </a:lnTo>
                    <a:lnTo>
                      <a:pt x="0" y="154432"/>
                    </a:lnTo>
                    <a:moveTo>
                      <a:pt x="12700" y="154432"/>
                    </a:moveTo>
                    <a:lnTo>
                      <a:pt x="12700" y="651637"/>
                    </a:lnTo>
                    <a:lnTo>
                      <a:pt x="6350" y="651637"/>
                    </a:lnTo>
                    <a:lnTo>
                      <a:pt x="12700" y="651637"/>
                    </a:lnTo>
                    <a:cubicBezTo>
                      <a:pt x="12700" y="729869"/>
                      <a:pt x="76200" y="793369"/>
                      <a:pt x="154432" y="793369"/>
                    </a:cubicBezTo>
                    <a:lnTo>
                      <a:pt x="651637" y="793369"/>
                    </a:lnTo>
                    <a:cubicBezTo>
                      <a:pt x="729869" y="793369"/>
                      <a:pt x="793369" y="729869"/>
                      <a:pt x="793369" y="651637"/>
                    </a:cubicBezTo>
                    <a:lnTo>
                      <a:pt x="793369" y="154432"/>
                    </a:lnTo>
                    <a:cubicBezTo>
                      <a:pt x="793369" y="76200"/>
                      <a:pt x="729869" y="12700"/>
                      <a:pt x="651637" y="12700"/>
                    </a:cubicBezTo>
                    <a:lnTo>
                      <a:pt x="154432" y="12700"/>
                    </a:lnTo>
                    <a:lnTo>
                      <a:pt x="154432" y="6350"/>
                    </a:lnTo>
                    <a:lnTo>
                      <a:pt x="154432" y="12700"/>
                    </a:lnTo>
                    <a:cubicBezTo>
                      <a:pt x="76200" y="12700"/>
                      <a:pt x="12700" y="76200"/>
                      <a:pt x="12700" y="154432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152128" y="1768632"/>
              <a:ext cx="2896979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Exponential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2128" y="126802"/>
              <a:ext cx="2966055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Log-normal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46327" y="126802"/>
              <a:ext cx="2966055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&lt;1%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46327" y="1768632"/>
              <a:ext cx="2966055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4%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540809" y="1768632"/>
              <a:ext cx="785145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2%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6433268" y="126802"/>
              <a:ext cx="892687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6%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9612883" y="0"/>
              <a:ext cx="806053" cy="806053"/>
              <a:chOff x="0" y="0"/>
              <a:chExt cx="806053" cy="8060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350" y="6350"/>
                <a:ext cx="793369" cy="793369"/>
              </a:xfrm>
              <a:custGeom>
                <a:avLst/>
                <a:gdLst/>
                <a:ahLst/>
                <a:cxnLst/>
                <a:rect l="l" t="t" r="r" b="b"/>
                <a:pathLst>
                  <a:path w="793369" h="793369">
                    <a:moveTo>
                      <a:pt x="0" y="148082"/>
                    </a:moveTo>
                    <a:cubicBezTo>
                      <a:pt x="0" y="66294"/>
                      <a:pt x="66294" y="0"/>
                      <a:pt x="148082" y="0"/>
                    </a:cubicBezTo>
                    <a:lnTo>
                      <a:pt x="645287" y="0"/>
                    </a:lnTo>
                    <a:cubicBezTo>
                      <a:pt x="727075" y="0"/>
                      <a:pt x="793369" y="66294"/>
                      <a:pt x="793369" y="148082"/>
                    </a:cubicBezTo>
                    <a:lnTo>
                      <a:pt x="793369" y="645287"/>
                    </a:lnTo>
                    <a:cubicBezTo>
                      <a:pt x="793369" y="727075"/>
                      <a:pt x="727075" y="793369"/>
                      <a:pt x="645287" y="793369"/>
                    </a:cubicBezTo>
                    <a:lnTo>
                      <a:pt x="148082" y="793369"/>
                    </a:lnTo>
                    <a:cubicBezTo>
                      <a:pt x="66294" y="793369"/>
                      <a:pt x="0" y="727075"/>
                      <a:pt x="0" y="645287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0" y="0"/>
                <a:ext cx="806069" cy="806069"/>
              </a:xfrm>
              <a:custGeom>
                <a:avLst/>
                <a:gdLst/>
                <a:ahLst/>
                <a:cxnLst/>
                <a:rect l="l" t="t" r="r" b="b"/>
                <a:pathLst>
                  <a:path w="806069" h="806069">
                    <a:moveTo>
                      <a:pt x="0" y="154432"/>
                    </a:moveTo>
                    <a:cubicBezTo>
                      <a:pt x="0" y="69088"/>
                      <a:pt x="69088" y="0"/>
                      <a:pt x="154432" y="0"/>
                    </a:cubicBezTo>
                    <a:lnTo>
                      <a:pt x="651637" y="0"/>
                    </a:lnTo>
                    <a:lnTo>
                      <a:pt x="651637" y="6350"/>
                    </a:lnTo>
                    <a:lnTo>
                      <a:pt x="651637" y="0"/>
                    </a:lnTo>
                    <a:cubicBezTo>
                      <a:pt x="736981" y="0"/>
                      <a:pt x="806069" y="69088"/>
                      <a:pt x="806069" y="154432"/>
                    </a:cubicBezTo>
                    <a:lnTo>
                      <a:pt x="799719" y="154432"/>
                    </a:lnTo>
                    <a:lnTo>
                      <a:pt x="806069" y="154432"/>
                    </a:lnTo>
                    <a:lnTo>
                      <a:pt x="806069" y="651637"/>
                    </a:lnTo>
                    <a:lnTo>
                      <a:pt x="799719" y="651637"/>
                    </a:lnTo>
                    <a:lnTo>
                      <a:pt x="806069" y="651637"/>
                    </a:lnTo>
                    <a:cubicBezTo>
                      <a:pt x="806069" y="736981"/>
                      <a:pt x="736981" y="806069"/>
                      <a:pt x="651637" y="806069"/>
                    </a:cubicBezTo>
                    <a:lnTo>
                      <a:pt x="651637" y="799719"/>
                    </a:lnTo>
                    <a:lnTo>
                      <a:pt x="651637" y="806069"/>
                    </a:lnTo>
                    <a:lnTo>
                      <a:pt x="154432" y="806069"/>
                    </a:lnTo>
                    <a:lnTo>
                      <a:pt x="154432" y="799719"/>
                    </a:lnTo>
                    <a:lnTo>
                      <a:pt x="154432" y="806069"/>
                    </a:lnTo>
                    <a:cubicBezTo>
                      <a:pt x="69088" y="806069"/>
                      <a:pt x="0" y="736854"/>
                      <a:pt x="0" y="651637"/>
                    </a:cubicBezTo>
                    <a:lnTo>
                      <a:pt x="0" y="154432"/>
                    </a:lnTo>
                    <a:lnTo>
                      <a:pt x="6350" y="154432"/>
                    </a:lnTo>
                    <a:lnTo>
                      <a:pt x="0" y="154432"/>
                    </a:lnTo>
                    <a:moveTo>
                      <a:pt x="12700" y="154432"/>
                    </a:moveTo>
                    <a:lnTo>
                      <a:pt x="12700" y="651637"/>
                    </a:lnTo>
                    <a:lnTo>
                      <a:pt x="6350" y="651637"/>
                    </a:lnTo>
                    <a:lnTo>
                      <a:pt x="12700" y="651637"/>
                    </a:lnTo>
                    <a:cubicBezTo>
                      <a:pt x="12700" y="729869"/>
                      <a:pt x="76200" y="793369"/>
                      <a:pt x="154432" y="793369"/>
                    </a:cubicBezTo>
                    <a:lnTo>
                      <a:pt x="651637" y="793369"/>
                    </a:lnTo>
                    <a:cubicBezTo>
                      <a:pt x="729869" y="793369"/>
                      <a:pt x="793369" y="729869"/>
                      <a:pt x="793369" y="651637"/>
                    </a:cubicBezTo>
                    <a:lnTo>
                      <a:pt x="793369" y="154432"/>
                    </a:lnTo>
                    <a:cubicBezTo>
                      <a:pt x="793369" y="76200"/>
                      <a:pt x="729869" y="12700"/>
                      <a:pt x="651637" y="12700"/>
                    </a:cubicBezTo>
                    <a:lnTo>
                      <a:pt x="154432" y="12700"/>
                    </a:lnTo>
                    <a:lnTo>
                      <a:pt x="154432" y="6350"/>
                    </a:lnTo>
                    <a:lnTo>
                      <a:pt x="154432" y="12700"/>
                    </a:lnTo>
                    <a:cubicBezTo>
                      <a:pt x="76200" y="12700"/>
                      <a:pt x="12700" y="76200"/>
                      <a:pt x="12700" y="154432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0765011" y="126802"/>
              <a:ext cx="5325356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Stretched Exponential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9612883" y="1641831"/>
              <a:ext cx="806053" cy="806053"/>
              <a:chOff x="0" y="0"/>
              <a:chExt cx="806053" cy="80605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350" y="6350"/>
                <a:ext cx="793369" cy="793369"/>
              </a:xfrm>
              <a:custGeom>
                <a:avLst/>
                <a:gdLst/>
                <a:ahLst/>
                <a:cxnLst/>
                <a:rect l="l" t="t" r="r" b="b"/>
                <a:pathLst>
                  <a:path w="793369" h="793369">
                    <a:moveTo>
                      <a:pt x="0" y="148082"/>
                    </a:moveTo>
                    <a:cubicBezTo>
                      <a:pt x="0" y="66294"/>
                      <a:pt x="66294" y="0"/>
                      <a:pt x="148082" y="0"/>
                    </a:cubicBezTo>
                    <a:lnTo>
                      <a:pt x="645287" y="0"/>
                    </a:lnTo>
                    <a:cubicBezTo>
                      <a:pt x="727075" y="0"/>
                      <a:pt x="793369" y="66294"/>
                      <a:pt x="793369" y="148082"/>
                    </a:cubicBezTo>
                    <a:lnTo>
                      <a:pt x="793369" y="645287"/>
                    </a:lnTo>
                    <a:cubicBezTo>
                      <a:pt x="793369" y="727075"/>
                      <a:pt x="727075" y="793369"/>
                      <a:pt x="645287" y="793369"/>
                    </a:cubicBezTo>
                    <a:lnTo>
                      <a:pt x="148082" y="793369"/>
                    </a:lnTo>
                    <a:cubicBezTo>
                      <a:pt x="66294" y="793369"/>
                      <a:pt x="0" y="727075"/>
                      <a:pt x="0" y="645287"/>
                    </a:cubicBezTo>
                    <a:close/>
                  </a:path>
                </a:pathLst>
              </a:custGeom>
              <a:solidFill>
                <a:srgbClr val="D5DCF6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0" y="0"/>
                <a:ext cx="806069" cy="806069"/>
              </a:xfrm>
              <a:custGeom>
                <a:avLst/>
                <a:gdLst/>
                <a:ahLst/>
                <a:cxnLst/>
                <a:rect l="l" t="t" r="r" b="b"/>
                <a:pathLst>
                  <a:path w="806069" h="806069">
                    <a:moveTo>
                      <a:pt x="0" y="154432"/>
                    </a:moveTo>
                    <a:cubicBezTo>
                      <a:pt x="0" y="69088"/>
                      <a:pt x="69088" y="0"/>
                      <a:pt x="154432" y="0"/>
                    </a:cubicBezTo>
                    <a:lnTo>
                      <a:pt x="651637" y="0"/>
                    </a:lnTo>
                    <a:lnTo>
                      <a:pt x="651637" y="6350"/>
                    </a:lnTo>
                    <a:lnTo>
                      <a:pt x="651637" y="0"/>
                    </a:lnTo>
                    <a:cubicBezTo>
                      <a:pt x="736981" y="0"/>
                      <a:pt x="806069" y="69088"/>
                      <a:pt x="806069" y="154432"/>
                    </a:cubicBezTo>
                    <a:lnTo>
                      <a:pt x="799719" y="154432"/>
                    </a:lnTo>
                    <a:lnTo>
                      <a:pt x="806069" y="154432"/>
                    </a:lnTo>
                    <a:lnTo>
                      <a:pt x="806069" y="651637"/>
                    </a:lnTo>
                    <a:lnTo>
                      <a:pt x="799719" y="651637"/>
                    </a:lnTo>
                    <a:lnTo>
                      <a:pt x="806069" y="651637"/>
                    </a:lnTo>
                    <a:cubicBezTo>
                      <a:pt x="806069" y="736981"/>
                      <a:pt x="736981" y="806069"/>
                      <a:pt x="651637" y="806069"/>
                    </a:cubicBezTo>
                    <a:lnTo>
                      <a:pt x="651637" y="799719"/>
                    </a:lnTo>
                    <a:lnTo>
                      <a:pt x="651637" y="806069"/>
                    </a:lnTo>
                    <a:lnTo>
                      <a:pt x="154432" y="806069"/>
                    </a:lnTo>
                    <a:lnTo>
                      <a:pt x="154432" y="799719"/>
                    </a:lnTo>
                    <a:lnTo>
                      <a:pt x="154432" y="806069"/>
                    </a:lnTo>
                    <a:cubicBezTo>
                      <a:pt x="69088" y="806069"/>
                      <a:pt x="0" y="736854"/>
                      <a:pt x="0" y="651637"/>
                    </a:cubicBezTo>
                    <a:lnTo>
                      <a:pt x="0" y="154432"/>
                    </a:lnTo>
                    <a:lnTo>
                      <a:pt x="6350" y="154432"/>
                    </a:lnTo>
                    <a:lnTo>
                      <a:pt x="0" y="154432"/>
                    </a:lnTo>
                    <a:moveTo>
                      <a:pt x="12700" y="154432"/>
                    </a:moveTo>
                    <a:lnTo>
                      <a:pt x="12700" y="651637"/>
                    </a:lnTo>
                    <a:lnTo>
                      <a:pt x="6350" y="651637"/>
                    </a:lnTo>
                    <a:lnTo>
                      <a:pt x="12700" y="651637"/>
                    </a:lnTo>
                    <a:cubicBezTo>
                      <a:pt x="12700" y="729869"/>
                      <a:pt x="76200" y="793369"/>
                      <a:pt x="154432" y="793369"/>
                    </a:cubicBezTo>
                    <a:lnTo>
                      <a:pt x="651637" y="793369"/>
                    </a:lnTo>
                    <a:cubicBezTo>
                      <a:pt x="729869" y="793369"/>
                      <a:pt x="793369" y="729869"/>
                      <a:pt x="793369" y="651637"/>
                    </a:cubicBezTo>
                    <a:lnTo>
                      <a:pt x="793369" y="154432"/>
                    </a:lnTo>
                    <a:cubicBezTo>
                      <a:pt x="793369" y="76200"/>
                      <a:pt x="729869" y="12700"/>
                      <a:pt x="651637" y="12700"/>
                    </a:cubicBezTo>
                    <a:lnTo>
                      <a:pt x="154432" y="12700"/>
                    </a:lnTo>
                    <a:lnTo>
                      <a:pt x="154432" y="6350"/>
                    </a:lnTo>
                    <a:lnTo>
                      <a:pt x="154432" y="12700"/>
                    </a:lnTo>
                    <a:cubicBezTo>
                      <a:pt x="76200" y="12700"/>
                      <a:pt x="12700" y="76200"/>
                      <a:pt x="12700" y="154432"/>
                    </a:cubicBezTo>
                    <a:close/>
                  </a:path>
                </a:pathLst>
              </a:custGeom>
              <a:solidFill>
                <a:srgbClr val="BBC2DC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10765011" y="1768632"/>
              <a:ext cx="5363735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687" b="1">
                  <a:solidFill>
                    <a:srgbClr val="3B3535"/>
                  </a:solidFill>
                  <a:latin typeface="Alexandria Bold"/>
                  <a:ea typeface="Alexandria Bold"/>
                  <a:cs typeface="Alexandria Bold"/>
                  <a:sym typeface="Alexandria Bold"/>
                </a:rPr>
                <a:t>Power-law with Cutoff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02444" y="5497111"/>
            <a:ext cx="1675685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231" lvl="1" indent="-290116" algn="l">
              <a:lnSpc>
                <a:spcPts val="3374"/>
              </a:lnSpc>
              <a:buFont typeface="Arial"/>
              <a:buChar char="•"/>
            </a:pPr>
            <a:r>
              <a:rPr lang="en-US" sz="2687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Mean Error results: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7853909"/>
            <a:ext cx="18415098" cy="18325287"/>
            <a:chOff x="0" y="0"/>
            <a:chExt cx="24553465" cy="24433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3464" cy="24433716"/>
            </a:xfrm>
            <a:custGeom>
              <a:avLst/>
              <a:gdLst/>
              <a:ahLst/>
              <a:cxnLst/>
              <a:rect l="l" t="t" r="r" b="b"/>
              <a:pathLst>
                <a:path w="24553464" h="24433716">
                  <a:moveTo>
                    <a:pt x="0" y="0"/>
                  </a:moveTo>
                  <a:lnTo>
                    <a:pt x="24553464" y="0"/>
                  </a:lnTo>
                  <a:lnTo>
                    <a:pt x="24553464" y="24433716"/>
                  </a:lnTo>
                  <a:lnTo>
                    <a:pt x="0" y="24433716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748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3033" y="706190"/>
            <a:ext cx="15624535" cy="7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 with Synthetic Data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032" y="2034629"/>
            <a:ext cx="16441936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Preliminary tests were conducted on simulated data in order to verify the code accuracy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29170" y="3071266"/>
            <a:ext cx="8670057" cy="1145806"/>
            <a:chOff x="0" y="0"/>
            <a:chExt cx="10928152" cy="144422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928096" cy="1444244"/>
            </a:xfrm>
            <a:custGeom>
              <a:avLst/>
              <a:gdLst/>
              <a:ahLst/>
              <a:cxnLst/>
              <a:rect l="l" t="t" r="r" b="b"/>
              <a:pathLst>
                <a:path w="10928096" h="1444244">
                  <a:moveTo>
                    <a:pt x="0" y="0"/>
                  </a:moveTo>
                  <a:lnTo>
                    <a:pt x="10928096" y="0"/>
                  </a:lnTo>
                  <a:lnTo>
                    <a:pt x="10928096" y="1444244"/>
                  </a:lnTo>
                  <a:lnTo>
                    <a:pt x="0" y="144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51" b="-150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5543" y="4484395"/>
            <a:ext cx="3769446" cy="45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909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Generation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543" y="5060524"/>
            <a:ext cx="8383684" cy="41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247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10 000 values drawn from a known power-law distribution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99227" y="3071266"/>
            <a:ext cx="8670057" cy="1145806"/>
            <a:chOff x="0" y="0"/>
            <a:chExt cx="10928152" cy="144422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0928096" cy="1444244"/>
            </a:xfrm>
            <a:custGeom>
              <a:avLst/>
              <a:gdLst/>
              <a:ahLst/>
              <a:cxnLst/>
              <a:rect l="l" t="t" r="r" b="b"/>
              <a:pathLst>
                <a:path w="10928096" h="1444244">
                  <a:moveTo>
                    <a:pt x="0" y="0"/>
                  </a:moveTo>
                  <a:lnTo>
                    <a:pt x="10928096" y="0"/>
                  </a:lnTo>
                  <a:lnTo>
                    <a:pt x="10928096" y="1444244"/>
                  </a:lnTo>
                  <a:lnTo>
                    <a:pt x="0" y="144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51" b="-150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585600" y="4484395"/>
            <a:ext cx="3769446" cy="45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909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Correct 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5600" y="5060524"/>
            <a:ext cx="8097312" cy="41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247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Estimated α = 2.512, only 0.4% error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29170" y="5891070"/>
            <a:ext cx="8670057" cy="1145806"/>
            <a:chOff x="0" y="0"/>
            <a:chExt cx="10928152" cy="144422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928096" cy="1444244"/>
            </a:xfrm>
            <a:custGeom>
              <a:avLst/>
              <a:gdLst/>
              <a:ahLst/>
              <a:cxnLst/>
              <a:rect l="l" t="t" r="r" b="b"/>
              <a:pathLst>
                <a:path w="10928096" h="1444244">
                  <a:moveTo>
                    <a:pt x="0" y="0"/>
                  </a:moveTo>
                  <a:lnTo>
                    <a:pt x="10928096" y="0"/>
                  </a:lnTo>
                  <a:lnTo>
                    <a:pt x="10928096" y="1444244"/>
                  </a:lnTo>
                  <a:lnTo>
                    <a:pt x="0" y="144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1" b="-150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5543" y="7304198"/>
            <a:ext cx="4043067" cy="45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909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Excellent Fit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5543" y="7880328"/>
            <a:ext cx="8097312" cy="41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247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p-value = 0.93 confirms good adherence to the model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99227" y="5891070"/>
            <a:ext cx="8670057" cy="1145806"/>
            <a:chOff x="0" y="0"/>
            <a:chExt cx="10928152" cy="1444228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928096" cy="1444244"/>
            </a:xfrm>
            <a:custGeom>
              <a:avLst/>
              <a:gdLst/>
              <a:ahLst/>
              <a:cxnLst/>
              <a:rect l="l" t="t" r="r" b="b"/>
              <a:pathLst>
                <a:path w="10928096" h="1444244">
                  <a:moveTo>
                    <a:pt x="0" y="0"/>
                  </a:moveTo>
                  <a:lnTo>
                    <a:pt x="10928096" y="0"/>
                  </a:lnTo>
                  <a:lnTo>
                    <a:pt x="10928096" y="1444244"/>
                  </a:lnTo>
                  <a:lnTo>
                    <a:pt x="0" y="144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1" b="-150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585600" y="7304198"/>
            <a:ext cx="3769446" cy="45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909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Rejected Models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85600" y="7880328"/>
            <a:ext cx="8097312" cy="41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247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Alternative models were correctly rejected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748"/>
            <a:ext cx="18287999" cy="10287000"/>
            <a:chOff x="0" y="0"/>
            <a:chExt cx="24383999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748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3033" y="706190"/>
            <a:ext cx="15624535" cy="7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Real Data Analysis: U.S. City Sizes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032" y="2034629"/>
            <a:ext cx="16441936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We applied our framework to a dataset of 19,447 U.S. cities to evaluate power-law behavior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8270" y="2834134"/>
            <a:ext cx="8098631" cy="1569987"/>
            <a:chOff x="0" y="0"/>
            <a:chExt cx="10798175" cy="2093317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96280" y="3102620"/>
            <a:ext cx="34702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Estimated α = 2.376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6280" y="3618459"/>
            <a:ext cx="754261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Scaling parameter of the fitted power-law model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1099" y="2834134"/>
            <a:ext cx="8098631" cy="1569987"/>
            <a:chOff x="0" y="0"/>
            <a:chExt cx="10798175" cy="2093317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549110" y="3102620"/>
            <a:ext cx="575585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Lower Bound (bmin) = 65.536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49110" y="3618459"/>
            <a:ext cx="754261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Power-law behavior applies to cities above this size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8270" y="4658320"/>
            <a:ext cx="8098631" cy="1569987"/>
            <a:chOff x="0" y="0"/>
            <a:chExt cx="10798175" cy="2093317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6280" y="4926806"/>
            <a:ext cx="3470225" cy="443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P-value = 0.939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6280" y="5442645"/>
            <a:ext cx="754261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Indicates a strong fit between model and data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71099" y="4658320"/>
            <a:ext cx="8098631" cy="1569987"/>
            <a:chOff x="0" y="0"/>
            <a:chExt cx="10798175" cy="2093317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549110" y="4926806"/>
            <a:ext cx="3470225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Support Moderate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49110" y="5442645"/>
            <a:ext cx="754261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The distribution fit with power law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8270" y="6515397"/>
            <a:ext cx="16451461" cy="3058120"/>
            <a:chOff x="0" y="0"/>
            <a:chExt cx="21935282" cy="407749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35314" cy="4077462"/>
            </a:xfrm>
            <a:custGeom>
              <a:avLst/>
              <a:gdLst/>
              <a:ahLst/>
              <a:cxnLst/>
              <a:rect l="l" t="t" r="r" b="b"/>
              <a:pathLst>
                <a:path w="21935314" h="4077462">
                  <a:moveTo>
                    <a:pt x="0" y="154051"/>
                  </a:moveTo>
                  <a:cubicBezTo>
                    <a:pt x="0" y="68961"/>
                    <a:pt x="69215" y="0"/>
                    <a:pt x="154432" y="0"/>
                  </a:cubicBezTo>
                  <a:lnTo>
                    <a:pt x="21780881" y="0"/>
                  </a:lnTo>
                  <a:lnTo>
                    <a:pt x="21780881" y="6350"/>
                  </a:lnTo>
                  <a:lnTo>
                    <a:pt x="21780881" y="0"/>
                  </a:lnTo>
                  <a:cubicBezTo>
                    <a:pt x="21866098" y="0"/>
                    <a:pt x="21935314" y="68961"/>
                    <a:pt x="21935314" y="154051"/>
                  </a:cubicBezTo>
                  <a:lnTo>
                    <a:pt x="21928964" y="154051"/>
                  </a:lnTo>
                  <a:lnTo>
                    <a:pt x="21935314" y="154051"/>
                  </a:lnTo>
                  <a:lnTo>
                    <a:pt x="21935314" y="3923411"/>
                  </a:lnTo>
                  <a:lnTo>
                    <a:pt x="21928964" y="3923411"/>
                  </a:lnTo>
                  <a:lnTo>
                    <a:pt x="21935314" y="3923411"/>
                  </a:lnTo>
                  <a:cubicBezTo>
                    <a:pt x="21935314" y="4008501"/>
                    <a:pt x="21866098" y="4077462"/>
                    <a:pt x="21780881" y="4077462"/>
                  </a:cubicBezTo>
                  <a:lnTo>
                    <a:pt x="21780881" y="4071112"/>
                  </a:lnTo>
                  <a:lnTo>
                    <a:pt x="21780881" y="4077462"/>
                  </a:lnTo>
                  <a:lnTo>
                    <a:pt x="154432" y="4077462"/>
                  </a:lnTo>
                  <a:lnTo>
                    <a:pt x="154432" y="4071112"/>
                  </a:lnTo>
                  <a:lnTo>
                    <a:pt x="154432" y="4077462"/>
                  </a:lnTo>
                  <a:cubicBezTo>
                    <a:pt x="69215" y="4077462"/>
                    <a:pt x="0" y="4008501"/>
                    <a:pt x="0" y="3923411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3923411"/>
                  </a:lnTo>
                  <a:lnTo>
                    <a:pt x="6350" y="3923411"/>
                  </a:lnTo>
                  <a:lnTo>
                    <a:pt x="12700" y="3923411"/>
                  </a:lnTo>
                  <a:cubicBezTo>
                    <a:pt x="12700" y="4001516"/>
                    <a:pt x="76200" y="4064762"/>
                    <a:pt x="154432" y="4064762"/>
                  </a:cubicBezTo>
                  <a:lnTo>
                    <a:pt x="21780881" y="4064762"/>
                  </a:lnTo>
                  <a:cubicBezTo>
                    <a:pt x="21859241" y="4064762"/>
                    <a:pt x="21922614" y="4001516"/>
                    <a:pt x="21922614" y="3923411"/>
                  </a:cubicBezTo>
                  <a:lnTo>
                    <a:pt x="21922614" y="154051"/>
                  </a:lnTo>
                  <a:cubicBezTo>
                    <a:pt x="21922614" y="75946"/>
                    <a:pt x="21859114" y="12700"/>
                    <a:pt x="21780881" y="12700"/>
                  </a:cubicBezTo>
                  <a:lnTo>
                    <a:pt x="154432" y="12700"/>
                  </a:lnTo>
                  <a:lnTo>
                    <a:pt x="154432" y="6350"/>
                  </a:lnTo>
                  <a:lnTo>
                    <a:pt x="154432" y="12700"/>
                  </a:lnTo>
                  <a:cubicBezTo>
                    <a:pt x="76200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32557" y="6529685"/>
            <a:ext cx="16422886" cy="757386"/>
            <a:chOff x="0" y="0"/>
            <a:chExt cx="21897182" cy="1009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306765" y="6611690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Our Estimate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7755" y="6631434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Parameter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12486" y="6611690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Paper Results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74055" y="6631434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Match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32557" y="7287071"/>
            <a:ext cx="16422886" cy="757386"/>
            <a:chOff x="0" y="0"/>
            <a:chExt cx="21897182" cy="10098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96280" y="7369076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66965" y="7391846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2.376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20100" y="7391846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2.38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74055" y="7391846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✅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2557" y="8044457"/>
            <a:ext cx="16422886" cy="757386"/>
            <a:chOff x="0" y="0"/>
            <a:chExt cx="21897182" cy="100984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96280" y="8126463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bmin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366965" y="8149233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65.536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20100" y="8149233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65.536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974055" y="8149233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✅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32557" y="8801844"/>
            <a:ext cx="16422886" cy="757386"/>
            <a:chOff x="0" y="0"/>
            <a:chExt cx="21897182" cy="10098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96280" y="8883849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support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66965" y="8906619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Moderate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20100" y="8906619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Moderate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974055" y="8906619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748"/>
            <a:ext cx="18287999" cy="10287000"/>
            <a:chOff x="0" y="0"/>
            <a:chExt cx="24383999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575" y="9748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2557" y="706190"/>
            <a:ext cx="15624535" cy="776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Real Data Analysis: Wildfires Acres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032" y="2034629"/>
            <a:ext cx="16441936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We applied our framework to a dataset of 203,785 sizes in acres of wildfires occurring on US federal land between 1986 and 1996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8270" y="2834134"/>
            <a:ext cx="8098631" cy="1569987"/>
            <a:chOff x="0" y="0"/>
            <a:chExt cx="10798175" cy="2093317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96280" y="3102620"/>
            <a:ext cx="3470225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Estimated α = 1.482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6280" y="3618459"/>
            <a:ext cx="754261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Scaling parameter of the fitted power-law model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1099" y="2834134"/>
            <a:ext cx="8098631" cy="1569987"/>
            <a:chOff x="0" y="0"/>
            <a:chExt cx="10798175" cy="2093317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549110" y="3102620"/>
            <a:ext cx="5755854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Lower Bound (bmin) =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49110" y="3618459"/>
            <a:ext cx="754261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Power-law behavior applies to wildfires above this size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8270" y="4658320"/>
            <a:ext cx="8098631" cy="1569987"/>
            <a:chOff x="0" y="0"/>
            <a:chExt cx="10798175" cy="2093317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96280" y="4926806"/>
            <a:ext cx="3470225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P-value = 0.000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6280" y="5442645"/>
            <a:ext cx="754261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Model rejected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71099" y="4658320"/>
            <a:ext cx="8098631" cy="1569987"/>
            <a:chOff x="0" y="0"/>
            <a:chExt cx="10798175" cy="2093317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10785475" cy="2080641"/>
            </a:xfrm>
            <a:custGeom>
              <a:avLst/>
              <a:gdLst/>
              <a:ahLst/>
              <a:cxnLst/>
              <a:rect l="l" t="t" r="r" b="b"/>
              <a:pathLst>
                <a:path w="10785475" h="2080641">
                  <a:moveTo>
                    <a:pt x="0" y="147701"/>
                  </a:moveTo>
                  <a:cubicBezTo>
                    <a:pt x="0" y="66167"/>
                    <a:pt x="66421" y="0"/>
                    <a:pt x="148463" y="0"/>
                  </a:cubicBezTo>
                  <a:lnTo>
                    <a:pt x="10637012" y="0"/>
                  </a:lnTo>
                  <a:cubicBezTo>
                    <a:pt x="10718927" y="0"/>
                    <a:pt x="10785475" y="66167"/>
                    <a:pt x="10785475" y="147701"/>
                  </a:cubicBezTo>
                  <a:lnTo>
                    <a:pt x="10785475" y="1932940"/>
                  </a:lnTo>
                  <a:cubicBezTo>
                    <a:pt x="10785475" y="2014474"/>
                    <a:pt x="10719054" y="2080641"/>
                    <a:pt x="10637012" y="2080641"/>
                  </a:cubicBezTo>
                  <a:lnTo>
                    <a:pt x="148463" y="2080641"/>
                  </a:lnTo>
                  <a:cubicBezTo>
                    <a:pt x="66421" y="2080641"/>
                    <a:pt x="0" y="2014474"/>
                    <a:pt x="0" y="1932940"/>
                  </a:cubicBezTo>
                  <a:close/>
                </a:path>
              </a:pathLst>
            </a:custGeom>
            <a:solidFill>
              <a:srgbClr val="D5DCF6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10798175" cy="2093341"/>
            </a:xfrm>
            <a:custGeom>
              <a:avLst/>
              <a:gdLst/>
              <a:ahLst/>
              <a:cxnLst/>
              <a:rect l="l" t="t" r="r" b="b"/>
              <a:pathLst>
                <a:path w="10798175" h="2093341">
                  <a:moveTo>
                    <a:pt x="0" y="154051"/>
                  </a:moveTo>
                  <a:cubicBezTo>
                    <a:pt x="0" y="68961"/>
                    <a:pt x="69342" y="0"/>
                    <a:pt x="154813" y="0"/>
                  </a:cubicBezTo>
                  <a:lnTo>
                    <a:pt x="10643362" y="0"/>
                  </a:lnTo>
                  <a:lnTo>
                    <a:pt x="10643362" y="6350"/>
                  </a:lnTo>
                  <a:lnTo>
                    <a:pt x="10643362" y="0"/>
                  </a:lnTo>
                  <a:cubicBezTo>
                    <a:pt x="10728833" y="0"/>
                    <a:pt x="10798175" y="68961"/>
                    <a:pt x="10798175" y="154051"/>
                  </a:cubicBezTo>
                  <a:lnTo>
                    <a:pt x="10791825" y="154051"/>
                  </a:lnTo>
                  <a:lnTo>
                    <a:pt x="10798175" y="154051"/>
                  </a:lnTo>
                  <a:lnTo>
                    <a:pt x="10798175" y="1939290"/>
                  </a:lnTo>
                  <a:lnTo>
                    <a:pt x="10791825" y="1939290"/>
                  </a:lnTo>
                  <a:lnTo>
                    <a:pt x="10798175" y="1939290"/>
                  </a:lnTo>
                  <a:cubicBezTo>
                    <a:pt x="10798175" y="2024380"/>
                    <a:pt x="10728833" y="2093341"/>
                    <a:pt x="10643362" y="2093341"/>
                  </a:cubicBezTo>
                  <a:lnTo>
                    <a:pt x="10643362" y="2086991"/>
                  </a:lnTo>
                  <a:lnTo>
                    <a:pt x="10643362" y="2093341"/>
                  </a:lnTo>
                  <a:lnTo>
                    <a:pt x="154813" y="2093341"/>
                  </a:lnTo>
                  <a:lnTo>
                    <a:pt x="154813" y="2086991"/>
                  </a:lnTo>
                  <a:lnTo>
                    <a:pt x="154813" y="2093341"/>
                  </a:lnTo>
                  <a:cubicBezTo>
                    <a:pt x="69342" y="2093341"/>
                    <a:pt x="0" y="2024380"/>
                    <a:pt x="0" y="1939290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1939290"/>
                  </a:lnTo>
                  <a:lnTo>
                    <a:pt x="6350" y="1939290"/>
                  </a:lnTo>
                  <a:lnTo>
                    <a:pt x="12700" y="1939290"/>
                  </a:lnTo>
                  <a:cubicBezTo>
                    <a:pt x="12700" y="2017268"/>
                    <a:pt x="76327" y="2080641"/>
                    <a:pt x="154813" y="2080641"/>
                  </a:cubicBezTo>
                  <a:lnTo>
                    <a:pt x="10643362" y="2080641"/>
                  </a:lnTo>
                  <a:cubicBezTo>
                    <a:pt x="10721848" y="2080641"/>
                    <a:pt x="10785475" y="2017268"/>
                    <a:pt x="10785475" y="1939290"/>
                  </a:cubicBezTo>
                  <a:lnTo>
                    <a:pt x="10785475" y="154051"/>
                  </a:lnTo>
                  <a:cubicBezTo>
                    <a:pt x="10785475" y="76073"/>
                    <a:pt x="10721848" y="12700"/>
                    <a:pt x="10643362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327" y="12700"/>
                    <a:pt x="12700" y="76073"/>
                    <a:pt x="12700" y="154051"/>
                  </a:cubicBezTo>
                  <a:close/>
                </a:path>
              </a:pathLst>
            </a:custGeom>
            <a:solidFill>
              <a:srgbClr val="BBC2DC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549110" y="4926806"/>
            <a:ext cx="3470225" cy="40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Support None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49110" y="5442645"/>
            <a:ext cx="754261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The best model is the Power Law with cutoff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8270" y="6515397"/>
            <a:ext cx="16451461" cy="3058120"/>
            <a:chOff x="0" y="0"/>
            <a:chExt cx="21935282" cy="407749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35314" cy="4077462"/>
            </a:xfrm>
            <a:custGeom>
              <a:avLst/>
              <a:gdLst/>
              <a:ahLst/>
              <a:cxnLst/>
              <a:rect l="l" t="t" r="r" b="b"/>
              <a:pathLst>
                <a:path w="21935314" h="4077462">
                  <a:moveTo>
                    <a:pt x="0" y="154051"/>
                  </a:moveTo>
                  <a:cubicBezTo>
                    <a:pt x="0" y="68961"/>
                    <a:pt x="69215" y="0"/>
                    <a:pt x="154432" y="0"/>
                  </a:cubicBezTo>
                  <a:lnTo>
                    <a:pt x="21780881" y="0"/>
                  </a:lnTo>
                  <a:lnTo>
                    <a:pt x="21780881" y="6350"/>
                  </a:lnTo>
                  <a:lnTo>
                    <a:pt x="21780881" y="0"/>
                  </a:lnTo>
                  <a:cubicBezTo>
                    <a:pt x="21866098" y="0"/>
                    <a:pt x="21935314" y="68961"/>
                    <a:pt x="21935314" y="154051"/>
                  </a:cubicBezTo>
                  <a:lnTo>
                    <a:pt x="21928964" y="154051"/>
                  </a:lnTo>
                  <a:lnTo>
                    <a:pt x="21935314" y="154051"/>
                  </a:lnTo>
                  <a:lnTo>
                    <a:pt x="21935314" y="3923411"/>
                  </a:lnTo>
                  <a:lnTo>
                    <a:pt x="21928964" y="3923411"/>
                  </a:lnTo>
                  <a:lnTo>
                    <a:pt x="21935314" y="3923411"/>
                  </a:lnTo>
                  <a:cubicBezTo>
                    <a:pt x="21935314" y="4008501"/>
                    <a:pt x="21866098" y="4077462"/>
                    <a:pt x="21780881" y="4077462"/>
                  </a:cubicBezTo>
                  <a:lnTo>
                    <a:pt x="21780881" y="4071112"/>
                  </a:lnTo>
                  <a:lnTo>
                    <a:pt x="21780881" y="4077462"/>
                  </a:lnTo>
                  <a:lnTo>
                    <a:pt x="154432" y="4077462"/>
                  </a:lnTo>
                  <a:lnTo>
                    <a:pt x="154432" y="4071112"/>
                  </a:lnTo>
                  <a:lnTo>
                    <a:pt x="154432" y="4077462"/>
                  </a:lnTo>
                  <a:cubicBezTo>
                    <a:pt x="69215" y="4077462"/>
                    <a:pt x="0" y="4008501"/>
                    <a:pt x="0" y="3923411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3923411"/>
                  </a:lnTo>
                  <a:lnTo>
                    <a:pt x="6350" y="3923411"/>
                  </a:lnTo>
                  <a:lnTo>
                    <a:pt x="12700" y="3923411"/>
                  </a:lnTo>
                  <a:cubicBezTo>
                    <a:pt x="12700" y="4001516"/>
                    <a:pt x="76200" y="4064762"/>
                    <a:pt x="154432" y="4064762"/>
                  </a:cubicBezTo>
                  <a:lnTo>
                    <a:pt x="21780881" y="4064762"/>
                  </a:lnTo>
                  <a:cubicBezTo>
                    <a:pt x="21859241" y="4064762"/>
                    <a:pt x="21922614" y="4001516"/>
                    <a:pt x="21922614" y="3923411"/>
                  </a:cubicBezTo>
                  <a:lnTo>
                    <a:pt x="21922614" y="154051"/>
                  </a:lnTo>
                  <a:cubicBezTo>
                    <a:pt x="21922614" y="75946"/>
                    <a:pt x="21859114" y="12700"/>
                    <a:pt x="21780881" y="12700"/>
                  </a:cubicBezTo>
                  <a:lnTo>
                    <a:pt x="154432" y="12700"/>
                  </a:lnTo>
                  <a:lnTo>
                    <a:pt x="154432" y="6350"/>
                  </a:lnTo>
                  <a:lnTo>
                    <a:pt x="154432" y="12700"/>
                  </a:lnTo>
                  <a:cubicBezTo>
                    <a:pt x="76200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32557" y="6529685"/>
            <a:ext cx="16422886" cy="757386"/>
            <a:chOff x="0" y="0"/>
            <a:chExt cx="21897182" cy="10098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306765" y="6611690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Our Estimate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7755" y="6631434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Parameter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12486" y="6611690"/>
            <a:ext cx="3568750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Paper Results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74055" y="6631434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Match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32557" y="7287071"/>
            <a:ext cx="16422886" cy="757386"/>
            <a:chOff x="0" y="0"/>
            <a:chExt cx="21897182" cy="10098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96280" y="7369076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66965" y="7391846"/>
            <a:ext cx="356875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1.482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20100" y="7391846"/>
            <a:ext cx="356875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1.482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74055" y="7391846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✅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32557" y="8044457"/>
            <a:ext cx="16422886" cy="757386"/>
            <a:chOff x="0" y="0"/>
            <a:chExt cx="21897182" cy="100984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96280" y="8126463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bmin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366965" y="8149233"/>
            <a:ext cx="356875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20100" y="8149233"/>
            <a:ext cx="356875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974055" y="8149233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✅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32557" y="8801844"/>
            <a:ext cx="16422886" cy="757386"/>
            <a:chOff x="0" y="0"/>
            <a:chExt cx="21897182" cy="10098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897212" cy="1009904"/>
            </a:xfrm>
            <a:custGeom>
              <a:avLst/>
              <a:gdLst/>
              <a:ahLst/>
              <a:cxnLst/>
              <a:rect l="l" t="t" r="r" b="b"/>
              <a:pathLst>
                <a:path w="21897212" h="1009904">
                  <a:moveTo>
                    <a:pt x="0" y="0"/>
                  </a:moveTo>
                  <a:lnTo>
                    <a:pt x="21897212" y="0"/>
                  </a:lnTo>
                  <a:lnTo>
                    <a:pt x="21897212" y="1009904"/>
                  </a:lnTo>
                  <a:lnTo>
                    <a:pt x="0" y="1009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96280" y="8883849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support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66965" y="8906619"/>
            <a:ext cx="356875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None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20100" y="8906619"/>
            <a:ext cx="3568750" cy="39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None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974055" y="8906619"/>
            <a:ext cx="3573512" cy="39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971862"/>
            <a:chOff x="0" y="0"/>
            <a:chExt cx="24384000" cy="2629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629149"/>
            </a:xfrm>
            <a:custGeom>
              <a:avLst/>
              <a:gdLst/>
              <a:ahLst/>
              <a:cxnLst/>
              <a:rect l="l" t="t" r="r" b="b"/>
              <a:pathLst>
                <a:path w="24384000" h="2629149">
                  <a:moveTo>
                    <a:pt x="0" y="0"/>
                  </a:moveTo>
                  <a:lnTo>
                    <a:pt x="24384000" y="0"/>
                  </a:lnTo>
                  <a:lnTo>
                    <a:pt x="24384000" y="2629149"/>
                  </a:lnTo>
                  <a:lnTo>
                    <a:pt x="0" y="2629149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" name="Freeform 4"/>
          <p:cNvSpPr/>
          <p:nvPr/>
        </p:nvSpPr>
        <p:spPr>
          <a:xfrm>
            <a:off x="7761917" y="2450043"/>
            <a:ext cx="9550974" cy="3593554"/>
          </a:xfrm>
          <a:custGeom>
            <a:avLst/>
            <a:gdLst/>
            <a:ahLst/>
            <a:cxnLst/>
            <a:rect l="l" t="t" r="r" b="b"/>
            <a:pathLst>
              <a:path w="9550974" h="3593554">
                <a:moveTo>
                  <a:pt x="0" y="0"/>
                </a:moveTo>
                <a:lnTo>
                  <a:pt x="9550974" y="0"/>
                </a:lnTo>
                <a:lnTo>
                  <a:pt x="9550974" y="3593554"/>
                </a:lnTo>
                <a:lnTo>
                  <a:pt x="0" y="3593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7761917" y="6331940"/>
            <a:ext cx="9443793" cy="3789322"/>
          </a:xfrm>
          <a:custGeom>
            <a:avLst/>
            <a:gdLst/>
            <a:ahLst/>
            <a:cxnLst/>
            <a:rect l="l" t="t" r="r" b="b"/>
            <a:pathLst>
              <a:path w="9443793" h="3789322">
                <a:moveTo>
                  <a:pt x="0" y="0"/>
                </a:moveTo>
                <a:lnTo>
                  <a:pt x="9443792" y="0"/>
                </a:lnTo>
                <a:lnTo>
                  <a:pt x="9443792" y="3789321"/>
                </a:lnTo>
                <a:lnTo>
                  <a:pt x="0" y="3789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785143" y="631133"/>
            <a:ext cx="15624535" cy="776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Real Data Plot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0453" y="2201189"/>
            <a:ext cx="6781604" cy="673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54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Why CCDF is Essential:</a:t>
            </a:r>
          </a:p>
          <a:p>
            <a:pPr algn="just">
              <a:lnSpc>
                <a:spcPts val="3854"/>
              </a:lnSpc>
            </a:pPr>
            <a:endParaRPr lang="en-US" sz="2400" b="1">
              <a:solidFill>
                <a:srgbClr val="1F1E1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  <a:p>
            <a:pPr marL="388620" lvl="1" indent="-194310" algn="just">
              <a:lnSpc>
                <a:spcPts val="2890"/>
              </a:lnSpc>
              <a:buFont typeface="Arial"/>
              <a:buChar char="•"/>
            </a:pPr>
            <a:r>
              <a:rPr lang="en-US" sz="1800">
                <a:solidFill>
                  <a:srgbClr val="1F1E1E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Linear scaling in log-log space makes power laws appear as straight lines</a:t>
            </a:r>
          </a:p>
          <a:p>
            <a:pPr marL="388620" lvl="1" indent="-194310" algn="just">
              <a:lnSpc>
                <a:spcPts val="2890"/>
              </a:lnSpc>
              <a:buFont typeface="Arial"/>
              <a:buChar char="•"/>
            </a:pPr>
            <a:r>
              <a:rPr lang="en-US" sz="1800">
                <a:solidFill>
                  <a:srgbClr val="1F1E1E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Robust to binning noise - smooths out fluctuations in individual bins</a:t>
            </a:r>
          </a:p>
          <a:p>
            <a:pPr marL="388620" lvl="1" indent="-194310" algn="just">
              <a:lnSpc>
                <a:spcPts val="2890"/>
              </a:lnSpc>
              <a:buFont typeface="Arial"/>
              <a:buChar char="•"/>
            </a:pPr>
            <a:r>
              <a:rPr lang="en-US" sz="1800">
                <a:solidFill>
                  <a:srgbClr val="1F1E1E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Standard in literature - enables comparison with published results</a:t>
            </a:r>
          </a:p>
          <a:p>
            <a:pPr algn="just">
              <a:lnSpc>
                <a:spcPts val="3312"/>
              </a:lnSpc>
            </a:pPr>
            <a:endParaRPr lang="en-US" sz="1800">
              <a:solidFill>
                <a:srgbClr val="1F1E1E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  <a:p>
            <a:pPr algn="just">
              <a:lnSpc>
                <a:spcPts val="3854"/>
              </a:lnSpc>
            </a:pPr>
            <a:r>
              <a:rPr lang="en-US" sz="24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Visual Diagnostic Power:</a:t>
            </a:r>
          </a:p>
          <a:p>
            <a:pPr algn="just">
              <a:lnSpc>
                <a:spcPts val="3854"/>
              </a:lnSpc>
            </a:pPr>
            <a:endParaRPr lang="en-US" sz="2400" b="1">
              <a:solidFill>
                <a:srgbClr val="1F1E1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  <a:p>
            <a:pPr marL="388620" lvl="1" indent="-194310" algn="just">
              <a:lnSpc>
                <a:spcPts val="2890"/>
              </a:lnSpc>
              <a:buFont typeface="Arial"/>
              <a:buChar char="•"/>
            </a:pPr>
            <a:r>
              <a:rPr lang="en-US" sz="1800">
                <a:solidFill>
                  <a:srgbClr val="1F1E1E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Clear deviation patterns reveal where power law breaks down</a:t>
            </a:r>
          </a:p>
          <a:p>
            <a:pPr marL="388620" lvl="1" indent="-194310" algn="just">
              <a:lnSpc>
                <a:spcPts val="2890"/>
              </a:lnSpc>
              <a:buFont typeface="Arial"/>
              <a:buChar char="•"/>
            </a:pPr>
            <a:r>
              <a:rPr lang="en-US" sz="1800">
                <a:solidFill>
                  <a:srgbClr val="1F1E1E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Alternative models show distinct curvature signatures</a:t>
            </a:r>
          </a:p>
          <a:p>
            <a:pPr marL="388620" lvl="1" indent="-194310" algn="just">
              <a:lnSpc>
                <a:spcPts val="2890"/>
              </a:lnSpc>
              <a:buFont typeface="Arial"/>
              <a:buChar char="•"/>
            </a:pPr>
            <a:r>
              <a:rPr lang="en-US" sz="1800">
                <a:solidFill>
                  <a:srgbClr val="1F1E1E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Threshold selection (bmin) visually interpretable as change in slope</a:t>
            </a:r>
          </a:p>
          <a:p>
            <a:pPr algn="just">
              <a:lnSpc>
                <a:spcPts val="3312"/>
              </a:lnSpc>
            </a:pPr>
            <a:endParaRPr lang="en-US" sz="1800">
              <a:solidFill>
                <a:srgbClr val="1F1E1E"/>
              </a:solidFill>
              <a:latin typeface="Alexandria Light"/>
              <a:ea typeface="Alexandria Light"/>
              <a:cs typeface="Alexandria Light"/>
              <a:sym typeface="Alexandria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1112" y="298104"/>
            <a:ext cx="18730443" cy="10287000"/>
            <a:chOff x="0" y="0"/>
            <a:chExt cx="2497392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73925" cy="13716000"/>
            </a:xfrm>
            <a:custGeom>
              <a:avLst/>
              <a:gdLst/>
              <a:ahLst/>
              <a:cxnLst/>
              <a:rect l="l" t="t" r="r" b="b"/>
              <a:pathLst>
                <a:path w="24973925" h="13716000">
                  <a:moveTo>
                    <a:pt x="0" y="0"/>
                  </a:moveTo>
                  <a:lnTo>
                    <a:pt x="24973925" y="0"/>
                  </a:lnTo>
                  <a:lnTo>
                    <a:pt x="249739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675681" y="-3497125"/>
            <a:ext cx="22905754" cy="10574546"/>
            <a:chOff x="0" y="0"/>
            <a:chExt cx="38497797" cy="177726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97796" cy="17772684"/>
            </a:xfrm>
            <a:custGeom>
              <a:avLst/>
              <a:gdLst/>
              <a:ahLst/>
              <a:cxnLst/>
              <a:rect l="l" t="t" r="r" b="b"/>
              <a:pathLst>
                <a:path w="38497796" h="17772684">
                  <a:moveTo>
                    <a:pt x="0" y="0"/>
                  </a:moveTo>
                  <a:lnTo>
                    <a:pt x="38497796" y="0"/>
                  </a:lnTo>
                  <a:lnTo>
                    <a:pt x="38497796" y="17772684"/>
                  </a:lnTo>
                  <a:lnTo>
                    <a:pt x="0" y="17772684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000125"/>
            <a:ext cx="8748496" cy="79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We Learned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4837" y="2260040"/>
            <a:ext cx="2764780" cy="35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Technical Wins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6093" y="3153893"/>
            <a:ext cx="525215" cy="525215"/>
            <a:chOff x="0" y="0"/>
            <a:chExt cx="700287" cy="70028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00278" cy="700278"/>
            </a:xfrm>
            <a:custGeom>
              <a:avLst/>
              <a:gdLst/>
              <a:ahLst/>
              <a:cxnLst/>
              <a:rect l="l" t="t" r="r" b="b"/>
              <a:pathLst>
                <a:path w="700278" h="700278">
                  <a:moveTo>
                    <a:pt x="0" y="0"/>
                  </a:moveTo>
                  <a:lnTo>
                    <a:pt x="700278" y="0"/>
                  </a:lnTo>
                  <a:lnTo>
                    <a:pt x="700278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24837" y="3254425"/>
            <a:ext cx="2764780" cy="35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Complete R Toolkit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4837" y="3686027"/>
            <a:ext cx="8152359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We built a robust R package. It provides all necessary functions.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35360" y="5178996"/>
            <a:ext cx="525215" cy="525215"/>
            <a:chOff x="0" y="0"/>
            <a:chExt cx="700287" cy="70028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00278" cy="700278"/>
            </a:xfrm>
            <a:custGeom>
              <a:avLst/>
              <a:gdLst/>
              <a:ahLst/>
              <a:cxnLst/>
              <a:rect l="l" t="t" r="r" b="b"/>
              <a:pathLst>
                <a:path w="700278" h="700278">
                  <a:moveTo>
                    <a:pt x="0" y="0"/>
                  </a:moveTo>
                  <a:lnTo>
                    <a:pt x="700278" y="0"/>
                  </a:lnTo>
                  <a:lnTo>
                    <a:pt x="700278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85695" y="5259289"/>
            <a:ext cx="2764780" cy="35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Numerical Stability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5695" y="5646836"/>
            <a:ext cx="699709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Our toolkit handles complex numerical challenges effectively. It ensures precise calculations.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35360" y="7457331"/>
            <a:ext cx="525215" cy="525215"/>
            <a:chOff x="0" y="0"/>
            <a:chExt cx="700287" cy="700287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00278" cy="700278"/>
            </a:xfrm>
            <a:custGeom>
              <a:avLst/>
              <a:gdLst/>
              <a:ahLst/>
              <a:cxnLst/>
              <a:rect l="l" t="t" r="r" b="b"/>
              <a:pathLst>
                <a:path w="700278" h="700278">
                  <a:moveTo>
                    <a:pt x="0" y="0"/>
                  </a:moveTo>
                  <a:lnTo>
                    <a:pt x="700278" y="0"/>
                  </a:lnTo>
                  <a:lnTo>
                    <a:pt x="700278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5695" y="7537624"/>
            <a:ext cx="2803922" cy="35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Validated Functions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24837" y="7911778"/>
            <a:ext cx="640716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All implemented functions passed rigorous testing. They are fully operational.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96972" y="2289706"/>
            <a:ext cx="2764780" cy="325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Statistical Lessons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09807" y="3153893"/>
            <a:ext cx="525215" cy="525215"/>
            <a:chOff x="0" y="0"/>
            <a:chExt cx="700287" cy="700287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700278" cy="700278"/>
            </a:xfrm>
            <a:custGeom>
              <a:avLst/>
              <a:gdLst/>
              <a:ahLst/>
              <a:cxnLst/>
              <a:rect l="l" t="t" r="r" b="b"/>
              <a:pathLst>
                <a:path w="700278" h="700278">
                  <a:moveTo>
                    <a:pt x="0" y="0"/>
                  </a:moveTo>
                  <a:lnTo>
                    <a:pt x="700278" y="0"/>
                  </a:lnTo>
                  <a:lnTo>
                    <a:pt x="700278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96972" y="3269258"/>
            <a:ext cx="2764780" cy="325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Binning Challenges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96972" y="3686027"/>
            <a:ext cx="8152359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Binned data complicates statistical testing. More data is often required.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409807" y="5143500"/>
            <a:ext cx="525215" cy="525215"/>
            <a:chOff x="0" y="0"/>
            <a:chExt cx="700287" cy="700287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700278" cy="700278"/>
            </a:xfrm>
            <a:custGeom>
              <a:avLst/>
              <a:gdLst/>
              <a:ahLst/>
              <a:cxnLst/>
              <a:rect l="l" t="t" r="r" b="b"/>
              <a:pathLst>
                <a:path w="700278" h="700278">
                  <a:moveTo>
                    <a:pt x="0" y="0"/>
                  </a:moveTo>
                  <a:lnTo>
                    <a:pt x="700278" y="0"/>
                  </a:lnTo>
                  <a:lnTo>
                    <a:pt x="700278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96972" y="5169471"/>
            <a:ext cx="2764780" cy="35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Method Impact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96972" y="5543687"/>
            <a:ext cx="683747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Choosing the correct statistical method is vital. It can drastically alter results.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409807" y="7457331"/>
            <a:ext cx="525215" cy="525215"/>
            <a:chOff x="0" y="0"/>
            <a:chExt cx="700287" cy="700287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700278" cy="700278"/>
            </a:xfrm>
            <a:custGeom>
              <a:avLst/>
              <a:gdLst/>
              <a:ahLst/>
              <a:cxnLst/>
              <a:rect l="l" t="t" r="r" b="b"/>
              <a:pathLst>
                <a:path w="700278" h="700278">
                  <a:moveTo>
                    <a:pt x="0" y="0"/>
                  </a:moveTo>
                  <a:lnTo>
                    <a:pt x="700278" y="0"/>
                  </a:lnTo>
                  <a:lnTo>
                    <a:pt x="700278" y="700278"/>
                  </a:lnTo>
                  <a:lnTo>
                    <a:pt x="0" y="70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 b="-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296972" y="7537624"/>
            <a:ext cx="3627984" cy="35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Rarity of True Power Laws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96972" y="7930828"/>
            <a:ext cx="696232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Pure power laws are seldom observed in nature. Many phenomena do not perfectly fit.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83336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7EEF9"/>
            </a:solid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09467" y="-7012930"/>
            <a:ext cx="19197467" cy="10287000"/>
            <a:chOff x="0" y="0"/>
            <a:chExt cx="25596622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96622" cy="13716000"/>
            </a:xfrm>
            <a:custGeom>
              <a:avLst/>
              <a:gdLst/>
              <a:ahLst/>
              <a:cxnLst/>
              <a:rect l="l" t="t" r="r" b="b"/>
              <a:pathLst>
                <a:path w="25596622" h="13716000">
                  <a:moveTo>
                    <a:pt x="0" y="0"/>
                  </a:moveTo>
                  <a:lnTo>
                    <a:pt x="25596622" y="0"/>
                  </a:lnTo>
                  <a:lnTo>
                    <a:pt x="2559662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 rot="2120376">
            <a:off x="14676562" y="711905"/>
            <a:ext cx="3050961" cy="1850260"/>
          </a:xfrm>
          <a:custGeom>
            <a:avLst/>
            <a:gdLst/>
            <a:ahLst/>
            <a:cxnLst/>
            <a:rect l="l" t="t" r="r" b="b"/>
            <a:pathLst>
              <a:path w="3050961" h="1850260">
                <a:moveTo>
                  <a:pt x="0" y="0"/>
                </a:moveTo>
                <a:lnTo>
                  <a:pt x="3050961" y="0"/>
                </a:lnTo>
                <a:lnTo>
                  <a:pt x="3050961" y="1850260"/>
                </a:lnTo>
                <a:lnTo>
                  <a:pt x="0" y="1850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947886" y="994022"/>
            <a:ext cx="7126932" cy="77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5000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997852"/>
            <a:ext cx="12297966" cy="80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Our project </a:t>
            </a: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successfully built </a:t>
            </a: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and </a:t>
            </a: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tested different</a:t>
            </a: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 functions. They </a:t>
            </a: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matched original findings </a:t>
            </a: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and delivered </a:t>
            </a:r>
            <a:r>
              <a:rPr lang="en-US" sz="2125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meaningful results </a:t>
            </a:r>
            <a:r>
              <a:rPr lang="en-US" sz="2125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</a:rPr>
              <a:t>on real data.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4139091"/>
            <a:ext cx="5133975" cy="50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Paper: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5013010"/>
            <a:ext cx="16392228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 u="sng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  <a:hlinkClick r:id="rId3" tooltip="https://arxiv.org/pdf/1208.3524"/>
              </a:rPr>
              <a:t>Virkar, Y. &amp; Clauset, A. (2014).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6807508"/>
            <a:ext cx="16392228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374"/>
              </a:lnSpc>
              <a:buFont typeface="Arial"/>
              <a:buChar char="•"/>
            </a:pPr>
            <a:r>
              <a:rPr lang="en-US" sz="2125" u="sng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  <a:hlinkClick r:id="rId4" tooltip="https://sites.santafe.edu/~aaronc/powerlaws/data/fires.txt"/>
              </a:rPr>
              <a:t>The sizes in acres of wildfires occurring on US federal land between 1986 and 1996.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569442"/>
            <a:ext cx="16392228" cy="3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342" lvl="1" indent="-160171" algn="l">
              <a:lnSpc>
                <a:spcPts val="3374"/>
              </a:lnSpc>
              <a:buFont typeface="Arial"/>
              <a:buChar char="•"/>
            </a:pPr>
            <a:r>
              <a:rPr lang="en-US" sz="2125" u="sng">
                <a:solidFill>
                  <a:srgbClr val="3B3535"/>
                </a:solidFill>
                <a:latin typeface="Alexandria Light"/>
                <a:ea typeface="Alexandria Light"/>
                <a:cs typeface="Alexandria Light"/>
                <a:sym typeface="Alexandria Light"/>
                <a:hlinkClick r:id="rId5" tooltip="https://sites.santafe.edu/~aaronc/powerlaws/data/cities.txt"/>
              </a:rPr>
              <a:t>The human population of U.S. cities in the 2000 U.S. Census.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44378" y="8739198"/>
            <a:ext cx="16392228" cy="51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sz="2799" b="1">
                <a:solidFill>
                  <a:srgbClr val="3B3535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Thanks for the attention!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886" y="5929621"/>
            <a:ext cx="5133975" cy="50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1F1E1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True Dataset: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Microsoft Office PowerPoint</Application>
  <PresentationFormat>Personalizzato</PresentationFormat>
  <Paragraphs>293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Alexandria Light</vt:lpstr>
      <vt:lpstr>Calibri</vt:lpstr>
      <vt:lpstr>Open Sans</vt:lpstr>
      <vt:lpstr>Arial</vt:lpstr>
      <vt:lpstr>Alexandria Bold</vt:lpstr>
      <vt:lpstr>Alexandria</vt:lpstr>
      <vt:lpstr>Open Sans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Data Science</dc:title>
  <cp:lastModifiedBy>Simona Cattari</cp:lastModifiedBy>
  <cp:revision>2</cp:revision>
  <dcterms:created xsi:type="dcterms:W3CDTF">2006-08-16T00:00:00Z</dcterms:created>
  <dcterms:modified xsi:type="dcterms:W3CDTF">2026-06-30T09:00:16Z</dcterms:modified>
  <dc:identifier>DAGq0efiHa4</dc:identifier>
</cp:coreProperties>
</file>